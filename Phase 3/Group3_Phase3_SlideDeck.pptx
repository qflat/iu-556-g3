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102_58A02974.xml" ContentType="application/vnd.ms-powerpoint.comments+xml"/>
  <Override PartName="/ppt/notesSlides/notesSlide1.xml" ContentType="application/vnd.openxmlformats-officedocument.presentationml.notesSlide+xml"/>
  <Override PartName="/ppt/comments/modernComment_103_D6C72C8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57" r:id="rId4"/>
    <p:sldId id="258" r:id="rId5"/>
    <p:sldId id="264" r:id="rId6"/>
    <p:sldId id="263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9F5346-CB21-C481-262F-A99681B2851A}" name="Costa, Jaden P" initials="CJ" userId="S::jpcosta@iu.edu::1ae4700b-af09-4b8c-8569-d4692e1db935" providerId="AD"/>
  <p188:author id="{AE052060-5A43-32C6-2B79-5421E65119BA}" name="Torres Sanchez, Katia" initials="KT" userId="S::ktorress@iu.edu::04b30394-1ca7-4059-8352-3fd15bede1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B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2554F4-9041-531E-E102-B2A68DA4D865}" v="192" dt="2025-12-02T00:53:40.996"/>
    <p1510:client id="{41D7217A-02A2-D6FD-C380-CE10501503F8}" v="432" dt="2025-12-01T23:49:25.642"/>
    <p1510:client id="{DAE0FEF6-4302-4383-9C7D-385695B74AF0}" v="1084" dt="2025-12-02T00:38:54.1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comments/modernComment_102_58A0297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8C99D8E-8960-4904-B017-0E6AA119C8E3}" authorId="{AE052060-5A43-32C6-2B79-5421E65119BA}" created="2025-11-19T02:02:12.04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486891380" sldId="258"/>
      <ac:spMk id="3" creationId="{0462DA76-0674-6DD8-7D43-6C72308CAB43}"/>
      <ac:txMk cp="0">
        <ac:context len="293" hash="1314020747"/>
      </ac:txMk>
    </ac:txMkLst>
    <p188:pos x="4567575" y="2072302"/>
    <p188:txBody>
      <a:bodyPr/>
      <a:lstStyle/>
      <a:p>
        <a:r>
          <a:rPr lang="en-US"/>
          <a:t>&lt;Overview of Modeling Pipelines explored&gt;</a:t>
        </a:r>
      </a:p>
    </p188:txBody>
  </p188:cm>
</p188:cmLst>
</file>

<file path=ppt/comments/modernComment_103_D6C72C8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6E2CC64-88BD-4AFF-ADE1-7BA14F973C79}" authorId="{FA9F5346-CB21-C481-262F-A99681B2851A}" created="2025-11-19T01:19:55.02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603377290" sldId="259"/>
      <ac:spMk id="3" creationId="{DDB8C7EA-DF28-4D34-442D-B90B0B13C980}"/>
    </ac:deMkLst>
    <p188:replyLst>
      <p188:reply id="{8FDDF157-5856-4BED-9280-28B5190D5A94}" authorId="{FA9F5346-CB21-C481-262F-A99681B2851A}" created="2025-11-19T01:20:01.426">
        <p188:txBody>
          <a:bodyPr/>
          <a:lstStyle/>
          <a:p>
            <a:r>
              <a:rPr lang="en-US"/>
              <a:t>Problems: Where are you feeling stuck? Is there anything you
need guidance on? Maybe your classmates will have a solution, or
maybe the Instruction Team can try to help during labs and office
hours.</a:t>
            </a:r>
          </a:p>
        </p188:txBody>
      </p188:reply>
    </p188:replyLst>
    <p188:txBody>
      <a:bodyPr/>
      <a:lstStyle/>
      <a:p>
        <a:r>
          <a:rPr lang="en-US"/>
          <a:t>Planned: What additional work are you planning to do in Phase
3? Based on your discoveries in the current phase, how will you
extend your work to improve results? 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F9EEB8-9BAC-4308-AB99-1208955248D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F10916-261A-4CBD-BCBD-D715C6FB6C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Project Description</a:t>
          </a:r>
          <a:endParaRPr lang="en-US"/>
        </a:p>
      </dgm:t>
    </dgm:pt>
    <dgm:pt modelId="{6CFA8C1E-B6F5-419E-A637-9C109BB6EDD0}" type="parTrans" cxnId="{5DD8B8B7-CF53-4320-B17A-EEA8E7C00DE8}">
      <dgm:prSet/>
      <dgm:spPr/>
      <dgm:t>
        <a:bodyPr/>
        <a:lstStyle/>
        <a:p>
          <a:endParaRPr lang="en-US"/>
        </a:p>
      </dgm:t>
    </dgm:pt>
    <dgm:pt modelId="{7F8C541A-ABAB-437A-ABBF-67D4AB6DE896}" type="sibTrans" cxnId="{5DD8B8B7-CF53-4320-B17A-EEA8E7C00DE8}">
      <dgm:prSet/>
      <dgm:spPr/>
      <dgm:t>
        <a:bodyPr/>
        <a:lstStyle/>
        <a:p>
          <a:endParaRPr lang="en-US"/>
        </a:p>
      </dgm:t>
    </dgm:pt>
    <dgm:pt modelId="{E40403D2-83EA-4D0E-A934-916E9CF731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Phase 3 Summary Visual EDA</a:t>
          </a:r>
          <a:endParaRPr lang="en-US"/>
        </a:p>
      </dgm:t>
    </dgm:pt>
    <dgm:pt modelId="{D775E4FF-F04E-41A8-9151-A9C276B16AB5}" type="parTrans" cxnId="{2CAE8C66-1CB1-4B59-8745-503FB855717E}">
      <dgm:prSet/>
      <dgm:spPr/>
      <dgm:t>
        <a:bodyPr/>
        <a:lstStyle/>
        <a:p>
          <a:endParaRPr lang="en-US"/>
        </a:p>
      </dgm:t>
    </dgm:pt>
    <dgm:pt modelId="{E24A711E-099C-4E57-BDDC-E2A6F88AE2B6}" type="sibTrans" cxnId="{2CAE8C66-1CB1-4B59-8745-503FB855717E}">
      <dgm:prSet/>
      <dgm:spPr/>
      <dgm:t>
        <a:bodyPr/>
        <a:lstStyle/>
        <a:p>
          <a:endParaRPr lang="en-US"/>
        </a:p>
      </dgm:t>
    </dgm:pt>
    <dgm:pt modelId="{8E08B5E5-62D5-4C9B-9B30-7BB7328621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Overview of Modeling Pipelines Explored</a:t>
          </a:r>
          <a:endParaRPr lang="en-US"/>
        </a:p>
      </dgm:t>
    </dgm:pt>
    <dgm:pt modelId="{F7751749-9EB7-449D-8BFB-C178F493B502}" type="parTrans" cxnId="{95F15916-C281-4D0A-BA95-A655AAF3932F}">
      <dgm:prSet/>
      <dgm:spPr/>
      <dgm:t>
        <a:bodyPr/>
        <a:lstStyle/>
        <a:p>
          <a:endParaRPr lang="en-US"/>
        </a:p>
      </dgm:t>
    </dgm:pt>
    <dgm:pt modelId="{144E6045-2913-4DAE-94BA-9C81A968F458}" type="sibTrans" cxnId="{95F15916-C281-4D0A-BA95-A655AAF3932F}">
      <dgm:prSet/>
      <dgm:spPr/>
      <dgm:t>
        <a:bodyPr/>
        <a:lstStyle/>
        <a:p>
          <a:endParaRPr lang="en-US"/>
        </a:p>
      </dgm:t>
    </dgm:pt>
    <dgm:pt modelId="{03E67CC2-4F27-4A01-AB33-F40BD454E7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Conclusion and Next Steps</a:t>
          </a:r>
          <a:endParaRPr lang="en-US"/>
        </a:p>
      </dgm:t>
    </dgm:pt>
    <dgm:pt modelId="{A6AD21DF-D502-4387-8367-52AB3DE472E8}" type="parTrans" cxnId="{FE60BF02-3545-4435-B72A-00A3EF80FDB4}">
      <dgm:prSet/>
      <dgm:spPr/>
      <dgm:t>
        <a:bodyPr/>
        <a:lstStyle/>
        <a:p>
          <a:endParaRPr lang="en-US"/>
        </a:p>
      </dgm:t>
    </dgm:pt>
    <dgm:pt modelId="{021978B6-6EFD-4370-8A5A-175CF753DBBA}" type="sibTrans" cxnId="{FE60BF02-3545-4435-B72A-00A3EF80FDB4}">
      <dgm:prSet/>
      <dgm:spPr/>
      <dgm:t>
        <a:bodyPr/>
        <a:lstStyle/>
        <a:p>
          <a:endParaRPr lang="en-US"/>
        </a:p>
      </dgm:t>
    </dgm:pt>
    <dgm:pt modelId="{4608242F-82EC-4A82-90C5-3401A13C8C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Results and Discussion of Results</a:t>
          </a:r>
        </a:p>
      </dgm:t>
    </dgm:pt>
    <dgm:pt modelId="{E99D084E-00B8-4E8C-AB0B-8C4605D33F19}" type="parTrans" cxnId="{A1E84327-35BC-4A13-BF6F-51E4CC7211D2}">
      <dgm:prSet/>
      <dgm:spPr/>
      <dgm:t>
        <a:bodyPr/>
        <a:lstStyle/>
        <a:p>
          <a:endParaRPr lang="en-US"/>
        </a:p>
      </dgm:t>
    </dgm:pt>
    <dgm:pt modelId="{9E280774-AA26-4468-B85D-9BFEF1562A77}" type="sibTrans" cxnId="{A1E84327-35BC-4A13-BF6F-51E4CC7211D2}">
      <dgm:prSet/>
      <dgm:spPr/>
      <dgm:t>
        <a:bodyPr/>
        <a:lstStyle/>
        <a:p>
          <a:endParaRPr lang="en-US"/>
        </a:p>
      </dgm:t>
    </dgm:pt>
    <dgm:pt modelId="{7FDE43EF-3863-4DCE-A874-ABA0ACFEC19B}" type="pres">
      <dgm:prSet presAssocID="{A9F9EEB8-9BAC-4308-AB99-1208955248D7}" presName="root" presStyleCnt="0">
        <dgm:presLayoutVars>
          <dgm:dir/>
          <dgm:resizeHandles val="exact"/>
        </dgm:presLayoutVars>
      </dgm:prSet>
      <dgm:spPr/>
    </dgm:pt>
    <dgm:pt modelId="{89C2E6D3-D7D1-4808-A484-44B57148F601}" type="pres">
      <dgm:prSet presAssocID="{F2F10916-261A-4CBD-BCBD-D715C6FB6C8E}" presName="compNode" presStyleCnt="0"/>
      <dgm:spPr/>
    </dgm:pt>
    <dgm:pt modelId="{F2B8C6B8-B881-4D08-BDF0-A3213B04CAE1}" type="pres">
      <dgm:prSet presAssocID="{F2F10916-261A-4CBD-BCBD-D715C6FB6C8E}" presName="bgRect" presStyleLbl="bgShp" presStyleIdx="0" presStyleCnt="5"/>
      <dgm:spPr/>
    </dgm:pt>
    <dgm:pt modelId="{20561902-02E8-423E-ABE2-9159C1BA5720}" type="pres">
      <dgm:prSet presAssocID="{F2F10916-261A-4CBD-BCBD-D715C6FB6C8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C7B105F-8F4D-406C-A9B0-87BD423143EC}" type="pres">
      <dgm:prSet presAssocID="{F2F10916-261A-4CBD-BCBD-D715C6FB6C8E}" presName="spaceRect" presStyleCnt="0"/>
      <dgm:spPr/>
    </dgm:pt>
    <dgm:pt modelId="{7E7D7779-81C2-4920-A146-7753A50004EB}" type="pres">
      <dgm:prSet presAssocID="{F2F10916-261A-4CBD-BCBD-D715C6FB6C8E}" presName="parTx" presStyleLbl="revTx" presStyleIdx="0" presStyleCnt="5">
        <dgm:presLayoutVars>
          <dgm:chMax val="0"/>
          <dgm:chPref val="0"/>
        </dgm:presLayoutVars>
      </dgm:prSet>
      <dgm:spPr/>
    </dgm:pt>
    <dgm:pt modelId="{9DC9A738-CD01-4893-8521-72AA741103F1}" type="pres">
      <dgm:prSet presAssocID="{7F8C541A-ABAB-437A-ABBF-67D4AB6DE896}" presName="sibTrans" presStyleCnt="0"/>
      <dgm:spPr/>
    </dgm:pt>
    <dgm:pt modelId="{E1055126-8ED0-44AF-8CD6-D1B1990EB783}" type="pres">
      <dgm:prSet presAssocID="{E40403D2-83EA-4D0E-A934-916E9CF73132}" presName="compNode" presStyleCnt="0"/>
      <dgm:spPr/>
    </dgm:pt>
    <dgm:pt modelId="{FDC9DF2B-43ED-4D12-8E72-CC09D6BCA720}" type="pres">
      <dgm:prSet presAssocID="{E40403D2-83EA-4D0E-A934-916E9CF73132}" presName="bgRect" presStyleLbl="bgShp" presStyleIdx="1" presStyleCnt="5"/>
      <dgm:spPr/>
    </dgm:pt>
    <dgm:pt modelId="{3543E77D-5918-4D41-8064-56F559F8D165}" type="pres">
      <dgm:prSet presAssocID="{E40403D2-83EA-4D0E-A934-916E9CF7313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4756A9E-E41A-4DA2-A088-1C9047BEC844}" type="pres">
      <dgm:prSet presAssocID="{E40403D2-83EA-4D0E-A934-916E9CF73132}" presName="spaceRect" presStyleCnt="0"/>
      <dgm:spPr/>
    </dgm:pt>
    <dgm:pt modelId="{52D2F3B3-5784-486B-BDB6-824D4F663116}" type="pres">
      <dgm:prSet presAssocID="{E40403D2-83EA-4D0E-A934-916E9CF73132}" presName="parTx" presStyleLbl="revTx" presStyleIdx="1" presStyleCnt="5">
        <dgm:presLayoutVars>
          <dgm:chMax val="0"/>
          <dgm:chPref val="0"/>
        </dgm:presLayoutVars>
      </dgm:prSet>
      <dgm:spPr/>
    </dgm:pt>
    <dgm:pt modelId="{0772ED46-5A95-4DEE-BB1F-89655C5A5C4C}" type="pres">
      <dgm:prSet presAssocID="{E24A711E-099C-4E57-BDDC-E2A6F88AE2B6}" presName="sibTrans" presStyleCnt="0"/>
      <dgm:spPr/>
    </dgm:pt>
    <dgm:pt modelId="{19341AFA-76EC-45D9-952E-46427D0ECE6F}" type="pres">
      <dgm:prSet presAssocID="{8E08B5E5-62D5-4C9B-9B30-7BB7328621F8}" presName="compNode" presStyleCnt="0"/>
      <dgm:spPr/>
    </dgm:pt>
    <dgm:pt modelId="{2E6D62EE-1EBF-4D88-8134-E6A73C844722}" type="pres">
      <dgm:prSet presAssocID="{8E08B5E5-62D5-4C9B-9B30-7BB7328621F8}" presName="bgRect" presStyleLbl="bgShp" presStyleIdx="2" presStyleCnt="5"/>
      <dgm:spPr/>
    </dgm:pt>
    <dgm:pt modelId="{4E248BCB-0E0A-45A8-A07D-F18E45783299}" type="pres">
      <dgm:prSet presAssocID="{8E08B5E5-62D5-4C9B-9B30-7BB7328621F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</dgm:pt>
    <dgm:pt modelId="{400E9AD6-C62B-4B3E-B140-4C43CE43BC09}" type="pres">
      <dgm:prSet presAssocID="{8E08B5E5-62D5-4C9B-9B30-7BB7328621F8}" presName="spaceRect" presStyleCnt="0"/>
      <dgm:spPr/>
    </dgm:pt>
    <dgm:pt modelId="{3571A6D8-A28B-4B49-9849-5E8D3FAE6DB7}" type="pres">
      <dgm:prSet presAssocID="{8E08B5E5-62D5-4C9B-9B30-7BB7328621F8}" presName="parTx" presStyleLbl="revTx" presStyleIdx="2" presStyleCnt="5">
        <dgm:presLayoutVars>
          <dgm:chMax val="0"/>
          <dgm:chPref val="0"/>
        </dgm:presLayoutVars>
      </dgm:prSet>
      <dgm:spPr/>
    </dgm:pt>
    <dgm:pt modelId="{BACFEB73-4B4A-470F-BD8C-4F0360FBCB26}" type="pres">
      <dgm:prSet presAssocID="{144E6045-2913-4DAE-94BA-9C81A968F458}" presName="sibTrans" presStyleCnt="0"/>
      <dgm:spPr/>
    </dgm:pt>
    <dgm:pt modelId="{CE135F76-1B08-4168-8BF6-B42EA03DE5D6}" type="pres">
      <dgm:prSet presAssocID="{4608242F-82EC-4A82-90C5-3401A13C8C71}" presName="compNode" presStyleCnt="0"/>
      <dgm:spPr/>
    </dgm:pt>
    <dgm:pt modelId="{F366FAB3-75BA-4592-8B41-C7169CAF35D1}" type="pres">
      <dgm:prSet presAssocID="{4608242F-82EC-4A82-90C5-3401A13C8C71}" presName="bgRect" presStyleLbl="bgShp" presStyleIdx="3" presStyleCnt="5"/>
      <dgm:spPr/>
    </dgm:pt>
    <dgm:pt modelId="{605EC17D-D349-4A0C-B5D3-731450C5CBD7}" type="pres">
      <dgm:prSet presAssocID="{4608242F-82EC-4A82-90C5-3401A13C8C7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ardroom outline"/>
        </a:ext>
      </dgm:extLst>
    </dgm:pt>
    <dgm:pt modelId="{0A94813E-7B3C-4CB0-861B-C5227461ADAD}" type="pres">
      <dgm:prSet presAssocID="{4608242F-82EC-4A82-90C5-3401A13C8C71}" presName="spaceRect" presStyleCnt="0"/>
      <dgm:spPr/>
    </dgm:pt>
    <dgm:pt modelId="{AD6C4F6D-72B1-476D-BF78-9636D2B868D3}" type="pres">
      <dgm:prSet presAssocID="{4608242F-82EC-4A82-90C5-3401A13C8C71}" presName="parTx" presStyleLbl="revTx" presStyleIdx="3" presStyleCnt="5">
        <dgm:presLayoutVars>
          <dgm:chMax val="0"/>
          <dgm:chPref val="0"/>
        </dgm:presLayoutVars>
      </dgm:prSet>
      <dgm:spPr/>
    </dgm:pt>
    <dgm:pt modelId="{B16BA3B0-89BE-4811-9633-DAD777F6592E}" type="pres">
      <dgm:prSet presAssocID="{9E280774-AA26-4468-B85D-9BFEF1562A77}" presName="sibTrans" presStyleCnt="0"/>
      <dgm:spPr/>
    </dgm:pt>
    <dgm:pt modelId="{BFE4E084-FD95-4846-A6ED-F53A229063D5}" type="pres">
      <dgm:prSet presAssocID="{03E67CC2-4F27-4A01-AB33-F40BD454E777}" presName="compNode" presStyleCnt="0"/>
      <dgm:spPr/>
    </dgm:pt>
    <dgm:pt modelId="{FCCD1A2F-74E6-4579-A835-03D7104756CE}" type="pres">
      <dgm:prSet presAssocID="{03E67CC2-4F27-4A01-AB33-F40BD454E777}" presName="bgRect" presStyleLbl="bgShp" presStyleIdx="4" presStyleCnt="5"/>
      <dgm:spPr/>
    </dgm:pt>
    <dgm:pt modelId="{B026DF31-2196-430C-930B-BC077C5565A4}" type="pres">
      <dgm:prSet presAssocID="{03E67CC2-4F27-4A01-AB33-F40BD454E77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BCA7844A-BA27-4837-B2F2-4ADD46127EB0}" type="pres">
      <dgm:prSet presAssocID="{03E67CC2-4F27-4A01-AB33-F40BD454E777}" presName="spaceRect" presStyleCnt="0"/>
      <dgm:spPr/>
    </dgm:pt>
    <dgm:pt modelId="{F6B1B9AE-310D-4FCB-A24C-615975AC8DA6}" type="pres">
      <dgm:prSet presAssocID="{03E67CC2-4F27-4A01-AB33-F40BD454E77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E60BF02-3545-4435-B72A-00A3EF80FDB4}" srcId="{A9F9EEB8-9BAC-4308-AB99-1208955248D7}" destId="{03E67CC2-4F27-4A01-AB33-F40BD454E777}" srcOrd="4" destOrd="0" parTransId="{A6AD21DF-D502-4387-8367-52AB3DE472E8}" sibTransId="{021978B6-6EFD-4370-8A5A-175CF753DBBA}"/>
    <dgm:cxn modelId="{1FF3F00B-9993-43E3-B022-49F783888297}" type="presOf" srcId="{A9F9EEB8-9BAC-4308-AB99-1208955248D7}" destId="{7FDE43EF-3863-4DCE-A874-ABA0ACFEC19B}" srcOrd="0" destOrd="0" presId="urn:microsoft.com/office/officeart/2018/2/layout/IconVerticalSolidList"/>
    <dgm:cxn modelId="{EE02D614-99FE-4A05-BB28-0A25AB5CDC8B}" type="presOf" srcId="{03E67CC2-4F27-4A01-AB33-F40BD454E777}" destId="{F6B1B9AE-310D-4FCB-A24C-615975AC8DA6}" srcOrd="0" destOrd="0" presId="urn:microsoft.com/office/officeart/2018/2/layout/IconVerticalSolidList"/>
    <dgm:cxn modelId="{95F15916-C281-4D0A-BA95-A655AAF3932F}" srcId="{A9F9EEB8-9BAC-4308-AB99-1208955248D7}" destId="{8E08B5E5-62D5-4C9B-9B30-7BB7328621F8}" srcOrd="2" destOrd="0" parTransId="{F7751749-9EB7-449D-8BFB-C178F493B502}" sibTransId="{144E6045-2913-4DAE-94BA-9C81A968F458}"/>
    <dgm:cxn modelId="{1368CD24-0E97-4439-B7D5-3D1CCEACBA91}" type="presOf" srcId="{4608242F-82EC-4A82-90C5-3401A13C8C71}" destId="{AD6C4F6D-72B1-476D-BF78-9636D2B868D3}" srcOrd="0" destOrd="0" presId="urn:microsoft.com/office/officeart/2018/2/layout/IconVerticalSolidList"/>
    <dgm:cxn modelId="{A1E84327-35BC-4A13-BF6F-51E4CC7211D2}" srcId="{A9F9EEB8-9BAC-4308-AB99-1208955248D7}" destId="{4608242F-82EC-4A82-90C5-3401A13C8C71}" srcOrd="3" destOrd="0" parTransId="{E99D084E-00B8-4E8C-AB0B-8C4605D33F19}" sibTransId="{9E280774-AA26-4468-B85D-9BFEF1562A77}"/>
    <dgm:cxn modelId="{2CAE8C66-1CB1-4B59-8745-503FB855717E}" srcId="{A9F9EEB8-9BAC-4308-AB99-1208955248D7}" destId="{E40403D2-83EA-4D0E-A934-916E9CF73132}" srcOrd="1" destOrd="0" parTransId="{D775E4FF-F04E-41A8-9151-A9C276B16AB5}" sibTransId="{E24A711E-099C-4E57-BDDC-E2A6F88AE2B6}"/>
    <dgm:cxn modelId="{45858D6F-E721-4D4B-945B-5B83C9EE4FC3}" type="presOf" srcId="{8E08B5E5-62D5-4C9B-9B30-7BB7328621F8}" destId="{3571A6D8-A28B-4B49-9849-5E8D3FAE6DB7}" srcOrd="0" destOrd="0" presId="urn:microsoft.com/office/officeart/2018/2/layout/IconVerticalSolidList"/>
    <dgm:cxn modelId="{727EC280-F07D-4048-B3B0-FA86E9A1349E}" type="presOf" srcId="{F2F10916-261A-4CBD-BCBD-D715C6FB6C8E}" destId="{7E7D7779-81C2-4920-A146-7753A50004EB}" srcOrd="0" destOrd="0" presId="urn:microsoft.com/office/officeart/2018/2/layout/IconVerticalSolidList"/>
    <dgm:cxn modelId="{5DD8B8B7-CF53-4320-B17A-EEA8E7C00DE8}" srcId="{A9F9EEB8-9BAC-4308-AB99-1208955248D7}" destId="{F2F10916-261A-4CBD-BCBD-D715C6FB6C8E}" srcOrd="0" destOrd="0" parTransId="{6CFA8C1E-B6F5-419E-A637-9C109BB6EDD0}" sibTransId="{7F8C541A-ABAB-437A-ABBF-67D4AB6DE896}"/>
    <dgm:cxn modelId="{C17668EB-340E-40DF-9B7E-B0D282154883}" type="presOf" srcId="{E40403D2-83EA-4D0E-A934-916E9CF73132}" destId="{52D2F3B3-5784-486B-BDB6-824D4F663116}" srcOrd="0" destOrd="0" presId="urn:microsoft.com/office/officeart/2018/2/layout/IconVerticalSolidList"/>
    <dgm:cxn modelId="{C39E2BED-708A-4C78-B2A7-F33A30127787}" type="presParOf" srcId="{7FDE43EF-3863-4DCE-A874-ABA0ACFEC19B}" destId="{89C2E6D3-D7D1-4808-A484-44B57148F601}" srcOrd="0" destOrd="0" presId="urn:microsoft.com/office/officeart/2018/2/layout/IconVerticalSolidList"/>
    <dgm:cxn modelId="{558AFD69-DFDF-41A0-AD72-F2CAB31F3578}" type="presParOf" srcId="{89C2E6D3-D7D1-4808-A484-44B57148F601}" destId="{F2B8C6B8-B881-4D08-BDF0-A3213B04CAE1}" srcOrd="0" destOrd="0" presId="urn:microsoft.com/office/officeart/2018/2/layout/IconVerticalSolidList"/>
    <dgm:cxn modelId="{7634F46D-7640-456D-9684-A72C363352F4}" type="presParOf" srcId="{89C2E6D3-D7D1-4808-A484-44B57148F601}" destId="{20561902-02E8-423E-ABE2-9159C1BA5720}" srcOrd="1" destOrd="0" presId="urn:microsoft.com/office/officeart/2018/2/layout/IconVerticalSolidList"/>
    <dgm:cxn modelId="{570B1309-8E22-4AA2-84E5-A002DEE88BB4}" type="presParOf" srcId="{89C2E6D3-D7D1-4808-A484-44B57148F601}" destId="{EC7B105F-8F4D-406C-A9B0-87BD423143EC}" srcOrd="2" destOrd="0" presId="urn:microsoft.com/office/officeart/2018/2/layout/IconVerticalSolidList"/>
    <dgm:cxn modelId="{FA54EA8C-8ED9-425D-B576-D485150431C4}" type="presParOf" srcId="{89C2E6D3-D7D1-4808-A484-44B57148F601}" destId="{7E7D7779-81C2-4920-A146-7753A50004EB}" srcOrd="3" destOrd="0" presId="urn:microsoft.com/office/officeart/2018/2/layout/IconVerticalSolidList"/>
    <dgm:cxn modelId="{41957599-CAF2-4FE9-BB8D-32153E0B2C38}" type="presParOf" srcId="{7FDE43EF-3863-4DCE-A874-ABA0ACFEC19B}" destId="{9DC9A738-CD01-4893-8521-72AA741103F1}" srcOrd="1" destOrd="0" presId="urn:microsoft.com/office/officeart/2018/2/layout/IconVerticalSolidList"/>
    <dgm:cxn modelId="{EEDB2B6C-F1B6-4D3E-B5E6-9CAD3FDE97A2}" type="presParOf" srcId="{7FDE43EF-3863-4DCE-A874-ABA0ACFEC19B}" destId="{E1055126-8ED0-44AF-8CD6-D1B1990EB783}" srcOrd="2" destOrd="0" presId="urn:microsoft.com/office/officeart/2018/2/layout/IconVerticalSolidList"/>
    <dgm:cxn modelId="{F1AB5C19-5C21-49A0-940D-84690CAB8A95}" type="presParOf" srcId="{E1055126-8ED0-44AF-8CD6-D1B1990EB783}" destId="{FDC9DF2B-43ED-4D12-8E72-CC09D6BCA720}" srcOrd="0" destOrd="0" presId="urn:microsoft.com/office/officeart/2018/2/layout/IconVerticalSolidList"/>
    <dgm:cxn modelId="{4ADBB5BD-FE58-4490-9255-05CDE15A3F48}" type="presParOf" srcId="{E1055126-8ED0-44AF-8CD6-D1B1990EB783}" destId="{3543E77D-5918-4D41-8064-56F559F8D165}" srcOrd="1" destOrd="0" presId="urn:microsoft.com/office/officeart/2018/2/layout/IconVerticalSolidList"/>
    <dgm:cxn modelId="{E1ADB5C9-9671-463C-9317-4D4611B5130D}" type="presParOf" srcId="{E1055126-8ED0-44AF-8CD6-D1B1990EB783}" destId="{04756A9E-E41A-4DA2-A088-1C9047BEC844}" srcOrd="2" destOrd="0" presId="urn:microsoft.com/office/officeart/2018/2/layout/IconVerticalSolidList"/>
    <dgm:cxn modelId="{04E3BE00-50C2-435F-AA3A-85B8E908D9DB}" type="presParOf" srcId="{E1055126-8ED0-44AF-8CD6-D1B1990EB783}" destId="{52D2F3B3-5784-486B-BDB6-824D4F663116}" srcOrd="3" destOrd="0" presId="urn:microsoft.com/office/officeart/2018/2/layout/IconVerticalSolidList"/>
    <dgm:cxn modelId="{9E04AC9A-7BFB-4AB5-88CA-DC4A63B6B5EC}" type="presParOf" srcId="{7FDE43EF-3863-4DCE-A874-ABA0ACFEC19B}" destId="{0772ED46-5A95-4DEE-BB1F-89655C5A5C4C}" srcOrd="3" destOrd="0" presId="urn:microsoft.com/office/officeart/2018/2/layout/IconVerticalSolidList"/>
    <dgm:cxn modelId="{45E15F1D-D589-4F2F-816B-E883C1448827}" type="presParOf" srcId="{7FDE43EF-3863-4DCE-A874-ABA0ACFEC19B}" destId="{19341AFA-76EC-45D9-952E-46427D0ECE6F}" srcOrd="4" destOrd="0" presId="urn:microsoft.com/office/officeart/2018/2/layout/IconVerticalSolidList"/>
    <dgm:cxn modelId="{2394A8D4-5568-457A-9495-4E9912E597CC}" type="presParOf" srcId="{19341AFA-76EC-45D9-952E-46427D0ECE6F}" destId="{2E6D62EE-1EBF-4D88-8134-E6A73C844722}" srcOrd="0" destOrd="0" presId="urn:microsoft.com/office/officeart/2018/2/layout/IconVerticalSolidList"/>
    <dgm:cxn modelId="{0166801C-3EEB-4404-A00C-C0A428E3A7FB}" type="presParOf" srcId="{19341AFA-76EC-45D9-952E-46427D0ECE6F}" destId="{4E248BCB-0E0A-45A8-A07D-F18E45783299}" srcOrd="1" destOrd="0" presId="urn:microsoft.com/office/officeart/2018/2/layout/IconVerticalSolidList"/>
    <dgm:cxn modelId="{E5686F28-A143-4AF7-831D-2C53969EED62}" type="presParOf" srcId="{19341AFA-76EC-45D9-952E-46427D0ECE6F}" destId="{400E9AD6-C62B-4B3E-B140-4C43CE43BC09}" srcOrd="2" destOrd="0" presId="urn:microsoft.com/office/officeart/2018/2/layout/IconVerticalSolidList"/>
    <dgm:cxn modelId="{70BE6C29-086D-4388-8BD6-B8CB32209F19}" type="presParOf" srcId="{19341AFA-76EC-45D9-952E-46427D0ECE6F}" destId="{3571A6D8-A28B-4B49-9849-5E8D3FAE6DB7}" srcOrd="3" destOrd="0" presId="urn:microsoft.com/office/officeart/2018/2/layout/IconVerticalSolidList"/>
    <dgm:cxn modelId="{23FCBFF1-D78B-44B0-87A2-D7F1A4DCC9DF}" type="presParOf" srcId="{7FDE43EF-3863-4DCE-A874-ABA0ACFEC19B}" destId="{BACFEB73-4B4A-470F-BD8C-4F0360FBCB26}" srcOrd="5" destOrd="0" presId="urn:microsoft.com/office/officeart/2018/2/layout/IconVerticalSolidList"/>
    <dgm:cxn modelId="{66435E9B-ACE9-4EF3-8AA2-17ECAF1E0BC1}" type="presParOf" srcId="{7FDE43EF-3863-4DCE-A874-ABA0ACFEC19B}" destId="{CE135F76-1B08-4168-8BF6-B42EA03DE5D6}" srcOrd="6" destOrd="0" presId="urn:microsoft.com/office/officeart/2018/2/layout/IconVerticalSolidList"/>
    <dgm:cxn modelId="{6838C382-CC2F-4DE7-8505-EC4E59598696}" type="presParOf" srcId="{CE135F76-1B08-4168-8BF6-B42EA03DE5D6}" destId="{F366FAB3-75BA-4592-8B41-C7169CAF35D1}" srcOrd="0" destOrd="0" presId="urn:microsoft.com/office/officeart/2018/2/layout/IconVerticalSolidList"/>
    <dgm:cxn modelId="{59B99328-474E-46D0-9AA0-514B0DCCE25D}" type="presParOf" srcId="{CE135F76-1B08-4168-8BF6-B42EA03DE5D6}" destId="{605EC17D-D349-4A0C-B5D3-731450C5CBD7}" srcOrd="1" destOrd="0" presId="urn:microsoft.com/office/officeart/2018/2/layout/IconVerticalSolidList"/>
    <dgm:cxn modelId="{F34A680D-29BB-489A-85C2-ED969B8291EF}" type="presParOf" srcId="{CE135F76-1B08-4168-8BF6-B42EA03DE5D6}" destId="{0A94813E-7B3C-4CB0-861B-C5227461ADAD}" srcOrd="2" destOrd="0" presId="urn:microsoft.com/office/officeart/2018/2/layout/IconVerticalSolidList"/>
    <dgm:cxn modelId="{A475A103-8251-451E-B3E5-7C3530F9F573}" type="presParOf" srcId="{CE135F76-1B08-4168-8BF6-B42EA03DE5D6}" destId="{AD6C4F6D-72B1-476D-BF78-9636D2B868D3}" srcOrd="3" destOrd="0" presId="urn:microsoft.com/office/officeart/2018/2/layout/IconVerticalSolidList"/>
    <dgm:cxn modelId="{C8FE583A-65E5-4E88-AA95-9B26D35C342C}" type="presParOf" srcId="{7FDE43EF-3863-4DCE-A874-ABA0ACFEC19B}" destId="{B16BA3B0-89BE-4811-9633-DAD777F6592E}" srcOrd="7" destOrd="0" presId="urn:microsoft.com/office/officeart/2018/2/layout/IconVerticalSolidList"/>
    <dgm:cxn modelId="{FAF5BC3A-5628-4377-A635-84D037594492}" type="presParOf" srcId="{7FDE43EF-3863-4DCE-A874-ABA0ACFEC19B}" destId="{BFE4E084-FD95-4846-A6ED-F53A229063D5}" srcOrd="8" destOrd="0" presId="urn:microsoft.com/office/officeart/2018/2/layout/IconVerticalSolidList"/>
    <dgm:cxn modelId="{6387579B-BACC-4B01-AD1F-BA0EA2E1FCA7}" type="presParOf" srcId="{BFE4E084-FD95-4846-A6ED-F53A229063D5}" destId="{FCCD1A2F-74E6-4579-A835-03D7104756CE}" srcOrd="0" destOrd="0" presId="urn:microsoft.com/office/officeart/2018/2/layout/IconVerticalSolidList"/>
    <dgm:cxn modelId="{22888FF7-0D04-4E51-9FC1-52E479A66465}" type="presParOf" srcId="{BFE4E084-FD95-4846-A6ED-F53A229063D5}" destId="{B026DF31-2196-430C-930B-BC077C5565A4}" srcOrd="1" destOrd="0" presId="urn:microsoft.com/office/officeart/2018/2/layout/IconVerticalSolidList"/>
    <dgm:cxn modelId="{36615257-6B27-4270-B3C3-0DA2D033F137}" type="presParOf" srcId="{BFE4E084-FD95-4846-A6ED-F53A229063D5}" destId="{BCA7844A-BA27-4837-B2F2-4ADD46127EB0}" srcOrd="2" destOrd="0" presId="urn:microsoft.com/office/officeart/2018/2/layout/IconVerticalSolidList"/>
    <dgm:cxn modelId="{33340241-3228-4F62-A45E-03763023B3EA}" type="presParOf" srcId="{BFE4E084-FD95-4846-A6ED-F53A229063D5}" destId="{F6B1B9AE-310D-4FCB-A24C-615975AC8DA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B8C6B8-B881-4D08-BDF0-A3213B04CAE1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561902-02E8-423E-ABE2-9159C1BA5720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7D7779-81C2-4920-A146-7753A50004EB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Project Description</a:t>
          </a:r>
          <a:endParaRPr lang="en-US" sz="1900" kern="1200"/>
        </a:p>
      </dsp:txBody>
      <dsp:txXfrm>
        <a:off x="836323" y="3399"/>
        <a:ext cx="9679276" cy="724089"/>
      </dsp:txXfrm>
    </dsp:sp>
    <dsp:sp modelId="{FDC9DF2B-43ED-4D12-8E72-CC09D6BCA720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43E77D-5918-4D41-8064-56F559F8D165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D2F3B3-5784-486B-BDB6-824D4F663116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Phase 3 Summary Visual EDA</a:t>
          </a:r>
          <a:endParaRPr lang="en-US" sz="1900" kern="1200"/>
        </a:p>
      </dsp:txBody>
      <dsp:txXfrm>
        <a:off x="836323" y="908511"/>
        <a:ext cx="9679276" cy="724089"/>
      </dsp:txXfrm>
    </dsp:sp>
    <dsp:sp modelId="{2E6D62EE-1EBF-4D88-8134-E6A73C844722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248BCB-0E0A-45A8-A07D-F18E45783299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71A6D8-A28B-4B49-9849-5E8D3FAE6DB7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Overview of Modeling Pipelines Explored</a:t>
          </a:r>
          <a:endParaRPr lang="en-US" sz="1900" kern="1200"/>
        </a:p>
      </dsp:txBody>
      <dsp:txXfrm>
        <a:off x="836323" y="1813624"/>
        <a:ext cx="9679276" cy="724089"/>
      </dsp:txXfrm>
    </dsp:sp>
    <dsp:sp modelId="{F366FAB3-75BA-4592-8B41-C7169CAF35D1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5EC17D-D349-4A0C-B5D3-731450C5CBD7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6C4F6D-72B1-476D-BF78-9636D2B868D3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Results and Discussion of Results</a:t>
          </a:r>
        </a:p>
      </dsp:txBody>
      <dsp:txXfrm>
        <a:off x="836323" y="2718736"/>
        <a:ext cx="9679276" cy="724089"/>
      </dsp:txXfrm>
    </dsp:sp>
    <dsp:sp modelId="{FCCD1A2F-74E6-4579-A835-03D7104756CE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26DF31-2196-430C-930B-BC077C5565A4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B1B9AE-310D-4FCB-A24C-615975AC8DA6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Conclusion and Next Steps</a:t>
          </a:r>
          <a:endParaRPr lang="en-US" sz="1900" kern="1200"/>
        </a:p>
      </dsp:txBody>
      <dsp:txXfrm>
        <a:off x="836323" y="3623848"/>
        <a:ext cx="9679276" cy="724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7724FA-32D6-444F-8963-3C7CD6A4ECA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69ACD-69F0-4E1A-AD7F-FEE57B73F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485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 why you chose the method and approach in presentation/results/discussion sections- FEATURE ENGINEERING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Explain the method you choose and why in presentation and results/discussion- HYPEROARAMETER TUNING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69ACD-69F0-4E1A-AD7F-FEE57B73F40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04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C365-19DF-80FD-41EF-914FA0A64E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7A7E3-3FA8-41F0-2DBD-E7BCE37C27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E126E-8D53-D255-6209-384985CEC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F9638-36E7-81DF-35B5-E5FF8ED85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EAEFF-A628-9C65-0797-14ABBD315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473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0A092-68AC-695C-8518-D8DCB4864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E34F9-11EF-3EF4-B027-034C3F9D9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A1A72-012A-EC46-86E8-69B947DE6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2D37B-B497-43AE-58D7-5EB54E940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21CD8-929C-92B0-F507-71BDFF69F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776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4E992-630D-262B-D803-3BC60D43D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EB07D-B44D-B54F-01BB-CB7B1DAA7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C579F-AA99-A3DB-688B-D4B157AA7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3FB4-CE6C-2DD2-C31C-1C3BC376C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9AE85-802A-6CA2-1AE7-30EE0657F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3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62235-D6F3-6A6E-7EEF-95A15F54F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8D7C0-0043-DE6F-A62D-3B1D74DF37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6D836-7509-B517-E875-079205FBF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DBE07A-ED5D-13A0-F846-2CBE03906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B969D-6ABD-E6D8-8B20-D875997ED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869591-190D-615C-8208-3F85F1C4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465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E4D17-E57F-224A-CFCA-C561B7772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649A8-E9BE-3871-B94C-469A3822E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D73774-BABF-F26B-3865-6DFC010A3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3D8D9B-C37E-61FE-08D0-7543155D47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F8D17C-EB23-E7D6-96EA-4E7BAC1EB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37AAA3-DFC8-4E16-BECC-104673909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FF242-CCBF-4432-F260-AF6ED687A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EBAC56-2199-2CD7-E3F6-2374B40AC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205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DD857-4AF9-4DB0-578B-112A6B109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796F4C-8DCF-0522-52A7-B2D9E1BAC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CDEBBA-CCAF-7C76-A43F-2FF73F7F0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4BD780-905E-4DD0-1334-134B14A98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514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A0F142-A248-0A4A-B0DC-5AE1D8F9E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5ABC22-DB02-CA32-8BC4-507944A62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3AF71-F6BF-6C6A-ABF1-399BF3129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074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06BD8-7109-44D7-BEB9-55D3BB566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2FE66-3FD5-364C-71A0-A4EBCF346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8949ED-9D97-8790-22FD-2DA92CE18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DC7BF-A43B-AB29-AF03-39C6DD027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825B1-E205-B401-EDDC-988FCC849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28AC7-9A12-4CC7-67E9-11B47AC06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095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7885B-273C-D201-9C71-471715176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D766D9-5085-E061-42F6-C1A7C6FED7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57C3FB-9A99-1819-6EB2-95A4EC547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E79A7-2D67-9C3F-112C-58C6B0D4D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1A256-6BC4-D2A4-04BD-DA415D380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E7776-8BE2-1AE2-7C7D-8BB8A72CA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568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9FEA0-CBD3-5EF3-0D80-E50E8F6C0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831308-E1F4-110B-36DB-9C5FC2614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4913E-A7E7-F96D-E163-CAFED0D41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036F2-D90D-E910-A818-994D58C7F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7938A-C6BC-4B60-EE52-52F295859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271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73B2B4-D684-0553-92C9-246A978523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E17318-5714-8D76-68A9-E1FCA1DE0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207A8-7117-AB15-5A11-6F8F990EE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D57B2-B062-EFFC-AFA3-2F0FE2098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B6B5A-E4BF-C46B-1446-A9E58426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205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B711ED-607E-EE24-6EE6-82993DB0C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3F6B5-A28D-FA2C-5B27-700C07426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16D14-5643-47E1-A1A5-A549302394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63FB6F-84B6-43B8-8057-E050608D5FB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EC405-7B22-4443-5953-6F3A6CDFE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27685-B6AC-F71D-0C4E-CEB6005024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21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microsoft.com/office/2018/10/relationships/comments" Target="../comments/modernComment_102_58A0297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3_D6C72C8A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6D21F3-824F-86B4-D5AD-1ADBADC80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01942"/>
            <a:ext cx="9144000" cy="731422"/>
          </a:xfrm>
        </p:spPr>
        <p:txBody>
          <a:bodyPr>
            <a:normAutofit/>
          </a:bodyPr>
          <a:lstStyle/>
          <a:p>
            <a:r>
              <a:rPr lang="en-US" sz="1800" b="1"/>
              <a:t>Group Number: </a:t>
            </a:r>
            <a:r>
              <a:rPr lang="en-US" sz="1800"/>
              <a:t>3 </a:t>
            </a:r>
          </a:p>
          <a:p>
            <a:r>
              <a:rPr lang="en-US" sz="1800" b="1"/>
              <a:t>Team Name: </a:t>
            </a:r>
            <a:r>
              <a:rPr lang="en-US" sz="1800"/>
              <a:t>FP_Group_3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D532D4C-753A-2F31-07D8-6BD56DE2878B}"/>
              </a:ext>
            </a:extLst>
          </p:cNvPr>
          <p:cNvSpPr txBox="1">
            <a:spLocks/>
          </p:cNvSpPr>
          <p:nvPr/>
        </p:nvSpPr>
        <p:spPr>
          <a:xfrm>
            <a:off x="1623607" y="5635399"/>
            <a:ext cx="1792224" cy="301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Alicia Aaholm 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94635B7-B3EA-4770-D87D-53C5C01E88E2}"/>
              </a:ext>
            </a:extLst>
          </p:cNvPr>
          <p:cNvSpPr txBox="1">
            <a:spLocks/>
          </p:cNvSpPr>
          <p:nvPr/>
        </p:nvSpPr>
        <p:spPr>
          <a:xfrm>
            <a:off x="4007794" y="5635399"/>
            <a:ext cx="1792224" cy="301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Nicholas Chappell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B11C73-0DD8-8CED-3A73-1D4D0D0C9247}"/>
              </a:ext>
            </a:extLst>
          </p:cNvPr>
          <p:cNvSpPr/>
          <p:nvPr/>
        </p:nvSpPr>
        <p:spPr>
          <a:xfrm>
            <a:off x="0" y="1385695"/>
            <a:ext cx="12192000" cy="1451872"/>
          </a:xfrm>
          <a:prstGeom prst="rect">
            <a:avLst/>
          </a:prstGeom>
          <a:solidFill>
            <a:srgbClr val="20B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39A1F03-FEDE-BE8E-6CE7-18BD48851843}"/>
              </a:ext>
            </a:extLst>
          </p:cNvPr>
          <p:cNvSpPr txBox="1">
            <a:spLocks/>
          </p:cNvSpPr>
          <p:nvPr/>
        </p:nvSpPr>
        <p:spPr>
          <a:xfrm>
            <a:off x="6391981" y="5635399"/>
            <a:ext cx="1792224" cy="301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Jaden Costa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3187227-F662-2CA8-CEC9-9C46D95AD458}"/>
              </a:ext>
            </a:extLst>
          </p:cNvPr>
          <p:cNvSpPr txBox="1">
            <a:spLocks/>
          </p:cNvSpPr>
          <p:nvPr/>
        </p:nvSpPr>
        <p:spPr>
          <a:xfrm>
            <a:off x="8776169" y="5635399"/>
            <a:ext cx="1792224" cy="301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Katia Torres Sanchez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042A409-85F4-CF35-0572-09C8A1EBD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1419" y="4378096"/>
            <a:ext cx="1121724" cy="1121724"/>
          </a:xfrm>
          <a:prstGeom prst="ellipse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1C025B2-B038-7CBB-7C9B-4EA23DD17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1419" y="111434"/>
            <a:ext cx="1109886" cy="11098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DAC671-4A3E-1449-C4E8-286C90BE1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21320"/>
            <a:ext cx="9144000" cy="1451872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HCDR Final Project</a:t>
            </a:r>
          </a:p>
        </p:txBody>
      </p:sp>
      <p:pic>
        <p:nvPicPr>
          <p:cNvPr id="10" name="Picture 9" descr="A person standing in front of a brick wall&#10;&#10;AI-generated content may be incorrect.">
            <a:extLst>
              <a:ext uri="{FF2B5EF4-FFF2-40B4-BE49-F238E27FC236}">
                <a16:creationId xmlns:a16="http://schemas.microsoft.com/office/drawing/2014/main" id="{3AB39938-311B-B071-AA88-AED5DB729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181" y="4311783"/>
            <a:ext cx="1190625" cy="1190625"/>
          </a:xfrm>
          <a:prstGeom prst="ellipse">
            <a:avLst/>
          </a:prstGeom>
        </p:spPr>
      </p:pic>
      <p:pic>
        <p:nvPicPr>
          <p:cNvPr id="8" name="Picture 7" descr="A person with blonde hair smiling&#10;&#10;AI-generated content may be incorrect.">
            <a:extLst>
              <a:ext uri="{FF2B5EF4-FFF2-40B4-BE49-F238E27FC236}">
                <a16:creationId xmlns:a16="http://schemas.microsoft.com/office/drawing/2014/main" id="{822B2B2F-0CE7-A40C-CB08-5CDE9C733D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205" y="4279135"/>
            <a:ext cx="1190625" cy="1219200"/>
          </a:xfrm>
          <a:prstGeom prst="ellipse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440E60-4CD5-992C-7BE6-382CB007CF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69" y="4325039"/>
            <a:ext cx="1209675" cy="12192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21717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FD638-3924-672D-AA36-E94063E1B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Outline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1C264EE-AC44-5B42-ED23-81FA64275F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238644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591349E-E589-4E68-957F-F623E9CDDAF9}"/>
              </a:ext>
            </a:extLst>
          </p:cNvPr>
          <p:cNvSpPr/>
          <p:nvPr/>
        </p:nvSpPr>
        <p:spPr>
          <a:xfrm>
            <a:off x="0" y="1385695"/>
            <a:ext cx="12192000" cy="119255"/>
          </a:xfrm>
          <a:prstGeom prst="rect">
            <a:avLst/>
          </a:prstGeom>
          <a:solidFill>
            <a:srgbClr val="20B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7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67045-CA0E-FFDE-DA18-ABFACD43B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390738"/>
            <a:ext cx="10515600" cy="1325563"/>
          </a:xfrm>
        </p:spPr>
        <p:txBody>
          <a:bodyPr/>
          <a:lstStyle/>
          <a:p>
            <a:r>
              <a:rPr lang="en-US" b="1"/>
              <a:t>Project Description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06CF1-8A5F-1DDD-C424-708C8CA45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1838432"/>
            <a:ext cx="801571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The HCDR project model aims to train a model to predict whether a lender would be able to pay off a loan. </a:t>
            </a:r>
          </a:p>
          <a:p>
            <a:r>
              <a:rPr lang="en-US"/>
              <a:t>During Phase 3, the tasks to be tackled included feature engineering, hyperparameter tuning, feature selection, and ensemble methods.</a:t>
            </a:r>
          </a:p>
          <a:p>
            <a:r>
              <a:rPr lang="en-US"/>
              <a:t>Data used during this phase were datasets </a:t>
            </a:r>
            <a:r>
              <a:rPr lang="en-US" i="1"/>
              <a:t>bureau</a:t>
            </a:r>
            <a:r>
              <a:rPr lang="en-US"/>
              <a:t> and </a:t>
            </a:r>
            <a:r>
              <a:rPr lang="en-US" i="1" err="1"/>
              <a:t>application_train</a:t>
            </a:r>
            <a:r>
              <a:rPr lang="en-US"/>
              <a:t> 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F5FCE6-378E-D4E8-BC41-354AB8AD3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4881" y="2592046"/>
            <a:ext cx="3780711" cy="238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67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887F75-0367-6E88-5E8B-E58A93945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077" y="109376"/>
            <a:ext cx="9392421" cy="1330841"/>
          </a:xfrm>
        </p:spPr>
        <p:txBody>
          <a:bodyPr>
            <a:normAutofit/>
          </a:bodyPr>
          <a:lstStyle/>
          <a:p>
            <a:r>
              <a:rPr lang="en-US" b="1"/>
              <a:t>Phase 3 Summary Visual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2DA76-0674-6DD8-7D43-6C72308CA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913" y="1572123"/>
            <a:ext cx="4958966" cy="463113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200"/>
              <a:t>Phase 3 had feature engineering and hyperparameter tuning performed </a:t>
            </a:r>
          </a:p>
          <a:p>
            <a:r>
              <a:rPr lang="en-US" sz="2200"/>
              <a:t>Focused on:</a:t>
            </a:r>
          </a:p>
          <a:p>
            <a:pPr lvl="1"/>
            <a:r>
              <a:rPr lang="en-US" sz="2200"/>
              <a:t>Recency: Time since last credit</a:t>
            </a:r>
          </a:p>
          <a:p>
            <a:pPr lvl="1"/>
            <a:r>
              <a:rPr lang="en-US" sz="2200"/>
              <a:t>Frequency: Count of previous loan</a:t>
            </a:r>
          </a:p>
          <a:p>
            <a:pPr lvl="1"/>
            <a:r>
              <a:rPr lang="en-US" sz="2200"/>
              <a:t>Monetary: Total past credit amount</a:t>
            </a:r>
          </a:p>
          <a:p>
            <a:r>
              <a:rPr lang="en-US" sz="2200"/>
              <a:t>Data lineage: Merged </a:t>
            </a:r>
            <a:r>
              <a:rPr lang="en-US" sz="2200" i="1"/>
              <a:t>bureau</a:t>
            </a:r>
            <a:r>
              <a:rPr lang="en-US" sz="2200"/>
              <a:t> and </a:t>
            </a:r>
            <a:r>
              <a:rPr lang="en-US" sz="2200" i="1" err="1"/>
              <a:t>application_train</a:t>
            </a:r>
            <a:r>
              <a:rPr lang="en-US" sz="2200"/>
              <a:t> datasets</a:t>
            </a:r>
          </a:p>
          <a:p>
            <a:r>
              <a:rPr lang="en-US" sz="2200"/>
              <a:t>Imputed </a:t>
            </a:r>
            <a:r>
              <a:rPr lang="en-US" sz="2200" i="1" err="1"/>
              <a:t>NaN</a:t>
            </a:r>
            <a:r>
              <a:rPr lang="en-US" sz="2200"/>
              <a:t> appropriately and created RFM features</a:t>
            </a:r>
          </a:p>
          <a:p>
            <a:endParaRPr lang="en-US" sz="20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bar graph with text&#10;&#10;AI-generated content may be incorrect.">
            <a:extLst>
              <a:ext uri="{FF2B5EF4-FFF2-40B4-BE49-F238E27FC236}">
                <a16:creationId xmlns:a16="http://schemas.microsoft.com/office/drawing/2014/main" id="{5E05DB8D-C528-A272-70E0-FD434DB65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550" y="1972880"/>
            <a:ext cx="5514516" cy="324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9138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82589-40B7-F663-CA38-999B1C57D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AE4F1-F6C5-04E0-B93E-9ED86254C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840" y="10"/>
            <a:ext cx="10515600" cy="1325563"/>
          </a:xfrm>
        </p:spPr>
        <p:txBody>
          <a:bodyPr/>
          <a:lstStyle/>
          <a:p>
            <a:r>
              <a:rPr lang="en-US" b="1"/>
              <a:t>Overview of Modeling Pipelines Explored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7701AA-EA41-6AC3-D132-DB86BA66B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355" y="1137940"/>
            <a:ext cx="7797219" cy="494887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200">
                <a:ea typeface="+mn-lt"/>
                <a:cs typeface="+mn-lt"/>
              </a:rPr>
              <a:t>RFM Feature Engineering: Created Recency, Frequency, and Monetary features from the bureau dataset and merged them into the application data.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Hyperparameter Tuning: Used </a:t>
            </a:r>
            <a:r>
              <a:rPr lang="en-US" sz="2200" i="1" err="1">
                <a:ea typeface="+mn-lt"/>
                <a:cs typeface="+mn-lt"/>
              </a:rPr>
              <a:t>RandomizedSearchCV</a:t>
            </a:r>
            <a:r>
              <a:rPr lang="en-US" sz="2200">
                <a:ea typeface="+mn-lt"/>
                <a:cs typeface="+mn-lt"/>
              </a:rPr>
              <a:t> to optimize a Random Forest across key parameters with 3-fold CV and ROC AUC scoring.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Ensemble Methods: Combined Logistic Regression and a tuned Random Forest in a soft-voting ensemble, leveraging both linear and tree-based strengths.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Feature Importance: Used the Random Forest’s feature importances to identify top predictors and validate the contribution of engineered RFM features.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894640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CC737-80CA-C41B-6A72-E02A62D66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70" y="-124700"/>
            <a:ext cx="10515600" cy="1325563"/>
          </a:xfrm>
        </p:spPr>
        <p:txBody>
          <a:bodyPr/>
          <a:lstStyle/>
          <a:p>
            <a:r>
              <a:rPr lang="en-US" b="1"/>
              <a:t>Results and Discussion of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73BCB-3B7E-9279-B11B-23F0EB01DD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370" y="1076886"/>
            <a:ext cx="5255980" cy="568912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RFM features: added ~+0.015 AUC by capturing customer behavior patterns.</a:t>
            </a:r>
            <a:endParaRPr lang="en-US" sz="2400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Tuned Random Forest (0.755 AUC): best single model after improving stability through tuning.</a:t>
            </a:r>
            <a:endParaRPr lang="en-US" sz="2400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Soft Voting Ensemble (0.762 AUC): highest overall score by balancing model strengths.</a:t>
            </a:r>
            <a:endParaRPr lang="en-US" sz="2400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Default Random Forest: showed moderate overfitting before tuning.</a:t>
            </a:r>
            <a:endParaRPr lang="en-US" sz="2400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Leaderboard gap (0.795): likely requires gradient boosting and richer installment/behavior features.</a:t>
            </a:r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F8D3ED-CB71-2B0D-5846-64154D099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97851"/>
            <a:ext cx="5773032" cy="16622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8B7957-AD09-2794-C820-1CB9D333E766}"/>
              </a:ext>
            </a:extLst>
          </p:cNvPr>
          <p:cNvSpPr txBox="1"/>
          <p:nvPr/>
        </p:nvSpPr>
        <p:spPr>
          <a:xfrm>
            <a:off x="7786486" y="2074688"/>
            <a:ext cx="23948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Experiment Table</a:t>
            </a:r>
          </a:p>
        </p:txBody>
      </p:sp>
    </p:spTree>
    <p:extLst>
      <p:ext uri="{BB962C8B-B14F-4D97-AF65-F5344CB8AC3E}">
        <p14:creationId xmlns:p14="http://schemas.microsoft.com/office/powerpoint/2010/main" val="3396532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D6674-2233-28FA-7866-B0C83A39B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Conclusion and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8C7EA-DF28-4D34-442D-B90B0B13C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 plan to fine-tune our hyperparameters and ensure our application is ready for Production by Phase 4's due date</a:t>
            </a:r>
          </a:p>
          <a:p>
            <a:r>
              <a:rPr lang="en-US"/>
              <a:t>We plan to document our results in further detail once we have further trained our model</a:t>
            </a:r>
          </a:p>
          <a:p>
            <a:r>
              <a:rPr lang="en-US"/>
              <a:t>We'll use these results as a guide for implementing multi-layer </a:t>
            </a:r>
            <a:r>
              <a:rPr lang="en-US" err="1"/>
              <a:t>perceptrons</a:t>
            </a:r>
            <a:r>
              <a:rPr lang="en-US"/>
              <a:t> (MLPs) 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3772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HCDR Final Project</vt:lpstr>
      <vt:lpstr>Outline</vt:lpstr>
      <vt:lpstr>Project Description</vt:lpstr>
      <vt:lpstr>Phase 3 Summary Visual EDA</vt:lpstr>
      <vt:lpstr>Overview of Modeling Pipelines Explored</vt:lpstr>
      <vt:lpstr>Results and Discussion of Results</vt:lpstr>
      <vt:lpstr>Conclusion and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Torres Sanchez, Katia</dc:creator>
  <cp:revision>8</cp:revision>
  <dcterms:created xsi:type="dcterms:W3CDTF">2025-11-18T20:17:02Z</dcterms:created>
  <dcterms:modified xsi:type="dcterms:W3CDTF">2025-12-02T01:12:40Z</dcterms:modified>
</cp:coreProperties>
</file>