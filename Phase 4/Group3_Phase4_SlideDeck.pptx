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8_A32B211D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57" r:id="rId4"/>
    <p:sldId id="262" r:id="rId5"/>
    <p:sldId id="264" r:id="rId6"/>
    <p:sldId id="265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E57B25-54BF-E910-4A56-C67D3DC36F1B}" name="Aaholm, Alicia" initials="AA" userId="S::aaaholm@iu.edu::3121a738-06b6-4e68-830b-45f9a42153b2" providerId="AD"/>
  <p188:author id="{FA9F5346-CB21-C481-262F-A99681B2851A}" name="Costa, Jaden P" initials="CJ" userId="S::jpcosta@iu.edu::1ae4700b-af09-4b8c-8569-d4692e1db935" providerId="AD"/>
  <p188:author id="{AE052060-5A43-32C6-2B79-5421E65119BA}" name="Torres Sanchez, Katia" initials="KT" userId="S::ktorress@iu.edu::04b30394-1ca7-4059-8352-3fd15bede1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B3BB07-7F4A-1C0F-1B3D-BC3A008ACDAE}" v="621" dt="2025-12-10T00:01:19.096"/>
    <p1510:client id="{1A3AED3E-06B7-AFF6-0E3F-68E131DA3362}" v="352" dt="2025-12-10T00:05:56.253"/>
    <p1510:client id="{57F775C2-F95F-12BB-6E63-C448F7B0E6D3}" v="61" dt="2025-12-09T23:50:37.330"/>
    <p1510:client id="{8B27BB36-6AF7-47C4-B927-913CA77AE17D}" v="2" dt="2025-12-09T22:33:46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67" autoAdjust="0"/>
  </p:normalViewPr>
  <p:slideViewPr>
    <p:cSldViewPr snapToGrid="0">
      <p:cViewPr varScale="1">
        <p:scale>
          <a:sx n="58" d="100"/>
          <a:sy n="58" d="100"/>
        </p:scale>
        <p:origin x="161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8_A32B21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E9A651-29D5-4F1F-9C14-617A6C1044ED}" authorId="{FA9F5346-CB21-C481-262F-A99681B2851A}" status="resolved" created="2025-12-09T23:05:33.78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37512733" sldId="264"/>
      <ac:spMk id="3" creationId="{53434358-ED6B-CFBB-41D3-4067CE3A3B52}"/>
      <ac:txMk cp="0">
        <ac:context len="797" hash="501494851"/>
      </ac:txMk>
    </ac:txMkLst>
    <p188:pos x="2908609" y="1570463"/>
    <p188:txBody>
      <a:bodyPr/>
      <a:lstStyle/>
      <a:p>
        <a:r>
          <a:rPr lang="en-US"/>
          <a:t>Figured this would fit better here rather than the conclusion slide but idk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09T23:28:13.197" authorId="{38E57B25-54BF-E910-4A56-C67D3DC36F1B}"/>
          </p223:rxn>
        </p223:reactions>
      </p:ext>
    </p188:extLst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F9EEB8-9BAC-4308-AB99-1208955248D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F10916-261A-4CBD-BCBD-D715C6FB6C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Project Description</a:t>
          </a:r>
          <a:endParaRPr lang="en-US"/>
        </a:p>
      </dgm:t>
    </dgm:pt>
    <dgm:pt modelId="{6CFA8C1E-B6F5-419E-A637-9C109BB6EDD0}" type="parTrans" cxnId="{5DD8B8B7-CF53-4320-B17A-EEA8E7C00DE8}">
      <dgm:prSet/>
      <dgm:spPr/>
      <dgm:t>
        <a:bodyPr/>
        <a:lstStyle/>
        <a:p>
          <a:endParaRPr lang="en-US"/>
        </a:p>
      </dgm:t>
    </dgm:pt>
    <dgm:pt modelId="{7F8C541A-ABAB-437A-ABBF-67D4AB6DE896}" type="sibTrans" cxnId="{5DD8B8B7-CF53-4320-B17A-EEA8E7C00DE8}">
      <dgm:prSet/>
      <dgm:spPr/>
      <dgm:t>
        <a:bodyPr/>
        <a:lstStyle/>
        <a:p>
          <a:endParaRPr lang="en-US"/>
        </a:p>
      </dgm:t>
    </dgm:pt>
    <dgm:pt modelId="{E40403D2-83EA-4D0E-A934-916E9CF731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Project Methods</a:t>
          </a:r>
        </a:p>
      </dgm:t>
    </dgm:pt>
    <dgm:pt modelId="{D775E4FF-F04E-41A8-9151-A9C276B16AB5}" type="parTrans" cxnId="{2CAE8C66-1CB1-4B59-8745-503FB855717E}">
      <dgm:prSet/>
      <dgm:spPr/>
      <dgm:t>
        <a:bodyPr/>
        <a:lstStyle/>
        <a:p>
          <a:endParaRPr lang="en-US"/>
        </a:p>
      </dgm:t>
    </dgm:pt>
    <dgm:pt modelId="{E24A711E-099C-4E57-BDDC-E2A6F88AE2B6}" type="sibTrans" cxnId="{2CAE8C66-1CB1-4B59-8745-503FB855717E}">
      <dgm:prSet/>
      <dgm:spPr/>
      <dgm:t>
        <a:bodyPr/>
        <a:lstStyle/>
        <a:p>
          <a:endParaRPr lang="en-US"/>
        </a:p>
      </dgm:t>
    </dgm:pt>
    <dgm:pt modelId="{8E08B5E5-62D5-4C9B-9B30-7BB7328621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Results and Discussion</a:t>
          </a:r>
        </a:p>
      </dgm:t>
    </dgm:pt>
    <dgm:pt modelId="{F7751749-9EB7-449D-8BFB-C178F493B502}" type="parTrans" cxnId="{95F15916-C281-4D0A-BA95-A655AAF3932F}">
      <dgm:prSet/>
      <dgm:spPr/>
      <dgm:t>
        <a:bodyPr/>
        <a:lstStyle/>
        <a:p>
          <a:endParaRPr lang="en-US"/>
        </a:p>
      </dgm:t>
    </dgm:pt>
    <dgm:pt modelId="{144E6045-2913-4DAE-94BA-9C81A968F458}" type="sibTrans" cxnId="{95F15916-C281-4D0A-BA95-A655AAF3932F}">
      <dgm:prSet/>
      <dgm:spPr/>
      <dgm:t>
        <a:bodyPr/>
        <a:lstStyle/>
        <a:p>
          <a:endParaRPr lang="en-US"/>
        </a:p>
      </dgm:t>
    </dgm:pt>
    <dgm:pt modelId="{03E67CC2-4F27-4A01-AB33-F40BD454E7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Conclusion</a:t>
          </a:r>
          <a:endParaRPr lang="en-US" dirty="0"/>
        </a:p>
      </dgm:t>
    </dgm:pt>
    <dgm:pt modelId="{A6AD21DF-D502-4387-8367-52AB3DE472E8}" type="parTrans" cxnId="{FE60BF02-3545-4435-B72A-00A3EF80FDB4}">
      <dgm:prSet/>
      <dgm:spPr/>
      <dgm:t>
        <a:bodyPr/>
        <a:lstStyle/>
        <a:p>
          <a:endParaRPr lang="en-US"/>
        </a:p>
      </dgm:t>
    </dgm:pt>
    <dgm:pt modelId="{021978B6-6EFD-4370-8A5A-175CF753DBBA}" type="sibTrans" cxnId="{FE60BF02-3545-4435-B72A-00A3EF80FDB4}">
      <dgm:prSet/>
      <dgm:spPr/>
      <dgm:t>
        <a:bodyPr/>
        <a:lstStyle/>
        <a:p>
          <a:endParaRPr lang="en-US"/>
        </a:p>
      </dgm:t>
    </dgm:pt>
    <dgm:pt modelId="{7FDE43EF-3863-4DCE-A874-ABA0ACFEC19B}" type="pres">
      <dgm:prSet presAssocID="{A9F9EEB8-9BAC-4308-AB99-1208955248D7}" presName="root" presStyleCnt="0">
        <dgm:presLayoutVars>
          <dgm:dir/>
          <dgm:resizeHandles val="exact"/>
        </dgm:presLayoutVars>
      </dgm:prSet>
      <dgm:spPr/>
    </dgm:pt>
    <dgm:pt modelId="{89C2E6D3-D7D1-4808-A484-44B57148F601}" type="pres">
      <dgm:prSet presAssocID="{F2F10916-261A-4CBD-BCBD-D715C6FB6C8E}" presName="compNode" presStyleCnt="0"/>
      <dgm:spPr/>
    </dgm:pt>
    <dgm:pt modelId="{F2B8C6B8-B881-4D08-BDF0-A3213B04CAE1}" type="pres">
      <dgm:prSet presAssocID="{F2F10916-261A-4CBD-BCBD-D715C6FB6C8E}" presName="bgRect" presStyleLbl="bgShp" presStyleIdx="0" presStyleCnt="4"/>
      <dgm:spPr/>
    </dgm:pt>
    <dgm:pt modelId="{20561902-02E8-423E-ABE2-9159C1BA5720}" type="pres">
      <dgm:prSet presAssocID="{F2F10916-261A-4CBD-BCBD-D715C6FB6C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7B105F-8F4D-406C-A9B0-87BD423143EC}" type="pres">
      <dgm:prSet presAssocID="{F2F10916-261A-4CBD-BCBD-D715C6FB6C8E}" presName="spaceRect" presStyleCnt="0"/>
      <dgm:spPr/>
    </dgm:pt>
    <dgm:pt modelId="{7E7D7779-81C2-4920-A146-7753A50004EB}" type="pres">
      <dgm:prSet presAssocID="{F2F10916-261A-4CBD-BCBD-D715C6FB6C8E}" presName="parTx" presStyleLbl="revTx" presStyleIdx="0" presStyleCnt="4">
        <dgm:presLayoutVars>
          <dgm:chMax val="0"/>
          <dgm:chPref val="0"/>
        </dgm:presLayoutVars>
      </dgm:prSet>
      <dgm:spPr/>
    </dgm:pt>
    <dgm:pt modelId="{9DC9A738-CD01-4893-8521-72AA741103F1}" type="pres">
      <dgm:prSet presAssocID="{7F8C541A-ABAB-437A-ABBF-67D4AB6DE896}" presName="sibTrans" presStyleCnt="0"/>
      <dgm:spPr/>
    </dgm:pt>
    <dgm:pt modelId="{E1055126-8ED0-44AF-8CD6-D1B1990EB783}" type="pres">
      <dgm:prSet presAssocID="{E40403D2-83EA-4D0E-A934-916E9CF73132}" presName="compNode" presStyleCnt="0"/>
      <dgm:spPr/>
    </dgm:pt>
    <dgm:pt modelId="{FDC9DF2B-43ED-4D12-8E72-CC09D6BCA720}" type="pres">
      <dgm:prSet presAssocID="{E40403D2-83EA-4D0E-A934-916E9CF73132}" presName="bgRect" presStyleLbl="bgShp" presStyleIdx="1" presStyleCnt="4"/>
      <dgm:spPr/>
    </dgm:pt>
    <dgm:pt modelId="{3543E77D-5918-4D41-8064-56F559F8D165}" type="pres">
      <dgm:prSet presAssocID="{E40403D2-83EA-4D0E-A934-916E9CF731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756A9E-E41A-4DA2-A088-1C9047BEC844}" type="pres">
      <dgm:prSet presAssocID="{E40403D2-83EA-4D0E-A934-916E9CF73132}" presName="spaceRect" presStyleCnt="0"/>
      <dgm:spPr/>
    </dgm:pt>
    <dgm:pt modelId="{52D2F3B3-5784-486B-BDB6-824D4F663116}" type="pres">
      <dgm:prSet presAssocID="{E40403D2-83EA-4D0E-A934-916E9CF73132}" presName="parTx" presStyleLbl="revTx" presStyleIdx="1" presStyleCnt="4">
        <dgm:presLayoutVars>
          <dgm:chMax val="0"/>
          <dgm:chPref val="0"/>
        </dgm:presLayoutVars>
      </dgm:prSet>
      <dgm:spPr/>
    </dgm:pt>
    <dgm:pt modelId="{0772ED46-5A95-4DEE-BB1F-89655C5A5C4C}" type="pres">
      <dgm:prSet presAssocID="{E24A711E-099C-4E57-BDDC-E2A6F88AE2B6}" presName="sibTrans" presStyleCnt="0"/>
      <dgm:spPr/>
    </dgm:pt>
    <dgm:pt modelId="{19341AFA-76EC-45D9-952E-46427D0ECE6F}" type="pres">
      <dgm:prSet presAssocID="{8E08B5E5-62D5-4C9B-9B30-7BB7328621F8}" presName="compNode" presStyleCnt="0"/>
      <dgm:spPr/>
    </dgm:pt>
    <dgm:pt modelId="{2E6D62EE-1EBF-4D88-8134-E6A73C844722}" type="pres">
      <dgm:prSet presAssocID="{8E08B5E5-62D5-4C9B-9B30-7BB7328621F8}" presName="bgRect" presStyleLbl="bgShp" presStyleIdx="2" presStyleCnt="4"/>
      <dgm:spPr/>
    </dgm:pt>
    <dgm:pt modelId="{4E248BCB-0E0A-45A8-A07D-F18E45783299}" type="pres">
      <dgm:prSet presAssocID="{8E08B5E5-62D5-4C9B-9B30-7BB7328621F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400E9AD6-C62B-4B3E-B140-4C43CE43BC09}" type="pres">
      <dgm:prSet presAssocID="{8E08B5E5-62D5-4C9B-9B30-7BB7328621F8}" presName="spaceRect" presStyleCnt="0"/>
      <dgm:spPr/>
    </dgm:pt>
    <dgm:pt modelId="{3571A6D8-A28B-4B49-9849-5E8D3FAE6DB7}" type="pres">
      <dgm:prSet presAssocID="{8E08B5E5-62D5-4C9B-9B30-7BB7328621F8}" presName="parTx" presStyleLbl="revTx" presStyleIdx="2" presStyleCnt="4">
        <dgm:presLayoutVars>
          <dgm:chMax val="0"/>
          <dgm:chPref val="0"/>
        </dgm:presLayoutVars>
      </dgm:prSet>
      <dgm:spPr/>
    </dgm:pt>
    <dgm:pt modelId="{BACFEB73-4B4A-470F-BD8C-4F0360FBCB26}" type="pres">
      <dgm:prSet presAssocID="{144E6045-2913-4DAE-94BA-9C81A968F458}" presName="sibTrans" presStyleCnt="0"/>
      <dgm:spPr/>
    </dgm:pt>
    <dgm:pt modelId="{BFE4E084-FD95-4846-A6ED-F53A229063D5}" type="pres">
      <dgm:prSet presAssocID="{03E67CC2-4F27-4A01-AB33-F40BD454E777}" presName="compNode" presStyleCnt="0"/>
      <dgm:spPr/>
    </dgm:pt>
    <dgm:pt modelId="{FCCD1A2F-74E6-4579-A835-03D7104756CE}" type="pres">
      <dgm:prSet presAssocID="{03E67CC2-4F27-4A01-AB33-F40BD454E777}" presName="bgRect" presStyleLbl="bgShp" presStyleIdx="3" presStyleCnt="4"/>
      <dgm:spPr/>
    </dgm:pt>
    <dgm:pt modelId="{B026DF31-2196-430C-930B-BC077C5565A4}" type="pres">
      <dgm:prSet presAssocID="{03E67CC2-4F27-4A01-AB33-F40BD454E7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CA7844A-BA27-4837-B2F2-4ADD46127EB0}" type="pres">
      <dgm:prSet presAssocID="{03E67CC2-4F27-4A01-AB33-F40BD454E777}" presName="spaceRect" presStyleCnt="0"/>
      <dgm:spPr/>
    </dgm:pt>
    <dgm:pt modelId="{F6B1B9AE-310D-4FCB-A24C-615975AC8DA6}" type="pres">
      <dgm:prSet presAssocID="{03E67CC2-4F27-4A01-AB33-F40BD454E7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E60BF02-3545-4435-B72A-00A3EF80FDB4}" srcId="{A9F9EEB8-9BAC-4308-AB99-1208955248D7}" destId="{03E67CC2-4F27-4A01-AB33-F40BD454E777}" srcOrd="3" destOrd="0" parTransId="{A6AD21DF-D502-4387-8367-52AB3DE472E8}" sibTransId="{021978B6-6EFD-4370-8A5A-175CF753DBBA}"/>
    <dgm:cxn modelId="{1FF3F00B-9993-43E3-B022-49F783888297}" type="presOf" srcId="{A9F9EEB8-9BAC-4308-AB99-1208955248D7}" destId="{7FDE43EF-3863-4DCE-A874-ABA0ACFEC19B}" srcOrd="0" destOrd="0" presId="urn:microsoft.com/office/officeart/2018/2/layout/IconVerticalSolidList"/>
    <dgm:cxn modelId="{EE02D614-99FE-4A05-BB28-0A25AB5CDC8B}" type="presOf" srcId="{03E67CC2-4F27-4A01-AB33-F40BD454E777}" destId="{F6B1B9AE-310D-4FCB-A24C-615975AC8DA6}" srcOrd="0" destOrd="0" presId="urn:microsoft.com/office/officeart/2018/2/layout/IconVerticalSolidList"/>
    <dgm:cxn modelId="{95F15916-C281-4D0A-BA95-A655AAF3932F}" srcId="{A9F9EEB8-9BAC-4308-AB99-1208955248D7}" destId="{8E08B5E5-62D5-4C9B-9B30-7BB7328621F8}" srcOrd="2" destOrd="0" parTransId="{F7751749-9EB7-449D-8BFB-C178F493B502}" sibTransId="{144E6045-2913-4DAE-94BA-9C81A968F458}"/>
    <dgm:cxn modelId="{2CAE8C66-1CB1-4B59-8745-503FB855717E}" srcId="{A9F9EEB8-9BAC-4308-AB99-1208955248D7}" destId="{E40403D2-83EA-4D0E-A934-916E9CF73132}" srcOrd="1" destOrd="0" parTransId="{D775E4FF-F04E-41A8-9151-A9C276B16AB5}" sibTransId="{E24A711E-099C-4E57-BDDC-E2A6F88AE2B6}"/>
    <dgm:cxn modelId="{45858D6F-E721-4D4B-945B-5B83C9EE4FC3}" type="presOf" srcId="{8E08B5E5-62D5-4C9B-9B30-7BB7328621F8}" destId="{3571A6D8-A28B-4B49-9849-5E8D3FAE6DB7}" srcOrd="0" destOrd="0" presId="urn:microsoft.com/office/officeart/2018/2/layout/IconVerticalSolidList"/>
    <dgm:cxn modelId="{727EC280-F07D-4048-B3B0-FA86E9A1349E}" type="presOf" srcId="{F2F10916-261A-4CBD-BCBD-D715C6FB6C8E}" destId="{7E7D7779-81C2-4920-A146-7753A50004EB}" srcOrd="0" destOrd="0" presId="urn:microsoft.com/office/officeart/2018/2/layout/IconVerticalSolidList"/>
    <dgm:cxn modelId="{5DD8B8B7-CF53-4320-B17A-EEA8E7C00DE8}" srcId="{A9F9EEB8-9BAC-4308-AB99-1208955248D7}" destId="{F2F10916-261A-4CBD-BCBD-D715C6FB6C8E}" srcOrd="0" destOrd="0" parTransId="{6CFA8C1E-B6F5-419E-A637-9C109BB6EDD0}" sibTransId="{7F8C541A-ABAB-437A-ABBF-67D4AB6DE896}"/>
    <dgm:cxn modelId="{C17668EB-340E-40DF-9B7E-B0D282154883}" type="presOf" srcId="{E40403D2-83EA-4D0E-A934-916E9CF73132}" destId="{52D2F3B3-5784-486B-BDB6-824D4F663116}" srcOrd="0" destOrd="0" presId="urn:microsoft.com/office/officeart/2018/2/layout/IconVerticalSolidList"/>
    <dgm:cxn modelId="{C39E2BED-708A-4C78-B2A7-F33A30127787}" type="presParOf" srcId="{7FDE43EF-3863-4DCE-A874-ABA0ACFEC19B}" destId="{89C2E6D3-D7D1-4808-A484-44B57148F601}" srcOrd="0" destOrd="0" presId="urn:microsoft.com/office/officeart/2018/2/layout/IconVerticalSolidList"/>
    <dgm:cxn modelId="{558AFD69-DFDF-41A0-AD72-F2CAB31F3578}" type="presParOf" srcId="{89C2E6D3-D7D1-4808-A484-44B57148F601}" destId="{F2B8C6B8-B881-4D08-BDF0-A3213B04CAE1}" srcOrd="0" destOrd="0" presId="urn:microsoft.com/office/officeart/2018/2/layout/IconVerticalSolidList"/>
    <dgm:cxn modelId="{7634F46D-7640-456D-9684-A72C363352F4}" type="presParOf" srcId="{89C2E6D3-D7D1-4808-A484-44B57148F601}" destId="{20561902-02E8-423E-ABE2-9159C1BA5720}" srcOrd="1" destOrd="0" presId="urn:microsoft.com/office/officeart/2018/2/layout/IconVerticalSolidList"/>
    <dgm:cxn modelId="{570B1309-8E22-4AA2-84E5-A002DEE88BB4}" type="presParOf" srcId="{89C2E6D3-D7D1-4808-A484-44B57148F601}" destId="{EC7B105F-8F4D-406C-A9B0-87BD423143EC}" srcOrd="2" destOrd="0" presId="urn:microsoft.com/office/officeart/2018/2/layout/IconVerticalSolidList"/>
    <dgm:cxn modelId="{FA54EA8C-8ED9-425D-B576-D485150431C4}" type="presParOf" srcId="{89C2E6D3-D7D1-4808-A484-44B57148F601}" destId="{7E7D7779-81C2-4920-A146-7753A50004EB}" srcOrd="3" destOrd="0" presId="urn:microsoft.com/office/officeart/2018/2/layout/IconVerticalSolidList"/>
    <dgm:cxn modelId="{41957599-CAF2-4FE9-BB8D-32153E0B2C38}" type="presParOf" srcId="{7FDE43EF-3863-4DCE-A874-ABA0ACFEC19B}" destId="{9DC9A738-CD01-4893-8521-72AA741103F1}" srcOrd="1" destOrd="0" presId="urn:microsoft.com/office/officeart/2018/2/layout/IconVerticalSolidList"/>
    <dgm:cxn modelId="{EEDB2B6C-F1B6-4D3E-B5E6-9CAD3FDE97A2}" type="presParOf" srcId="{7FDE43EF-3863-4DCE-A874-ABA0ACFEC19B}" destId="{E1055126-8ED0-44AF-8CD6-D1B1990EB783}" srcOrd="2" destOrd="0" presId="urn:microsoft.com/office/officeart/2018/2/layout/IconVerticalSolidList"/>
    <dgm:cxn modelId="{F1AB5C19-5C21-49A0-940D-84690CAB8A95}" type="presParOf" srcId="{E1055126-8ED0-44AF-8CD6-D1B1990EB783}" destId="{FDC9DF2B-43ED-4D12-8E72-CC09D6BCA720}" srcOrd="0" destOrd="0" presId="urn:microsoft.com/office/officeart/2018/2/layout/IconVerticalSolidList"/>
    <dgm:cxn modelId="{4ADBB5BD-FE58-4490-9255-05CDE15A3F48}" type="presParOf" srcId="{E1055126-8ED0-44AF-8CD6-D1B1990EB783}" destId="{3543E77D-5918-4D41-8064-56F559F8D165}" srcOrd="1" destOrd="0" presId="urn:microsoft.com/office/officeart/2018/2/layout/IconVerticalSolidList"/>
    <dgm:cxn modelId="{E1ADB5C9-9671-463C-9317-4D4611B5130D}" type="presParOf" srcId="{E1055126-8ED0-44AF-8CD6-D1B1990EB783}" destId="{04756A9E-E41A-4DA2-A088-1C9047BEC844}" srcOrd="2" destOrd="0" presId="urn:microsoft.com/office/officeart/2018/2/layout/IconVerticalSolidList"/>
    <dgm:cxn modelId="{04E3BE00-50C2-435F-AA3A-85B8E908D9DB}" type="presParOf" srcId="{E1055126-8ED0-44AF-8CD6-D1B1990EB783}" destId="{52D2F3B3-5784-486B-BDB6-824D4F663116}" srcOrd="3" destOrd="0" presId="urn:microsoft.com/office/officeart/2018/2/layout/IconVerticalSolidList"/>
    <dgm:cxn modelId="{9E04AC9A-7BFB-4AB5-88CA-DC4A63B6B5EC}" type="presParOf" srcId="{7FDE43EF-3863-4DCE-A874-ABA0ACFEC19B}" destId="{0772ED46-5A95-4DEE-BB1F-89655C5A5C4C}" srcOrd="3" destOrd="0" presId="urn:microsoft.com/office/officeart/2018/2/layout/IconVerticalSolidList"/>
    <dgm:cxn modelId="{45E15F1D-D589-4F2F-816B-E883C1448827}" type="presParOf" srcId="{7FDE43EF-3863-4DCE-A874-ABA0ACFEC19B}" destId="{19341AFA-76EC-45D9-952E-46427D0ECE6F}" srcOrd="4" destOrd="0" presId="urn:microsoft.com/office/officeart/2018/2/layout/IconVerticalSolidList"/>
    <dgm:cxn modelId="{2394A8D4-5568-457A-9495-4E9912E597CC}" type="presParOf" srcId="{19341AFA-76EC-45D9-952E-46427D0ECE6F}" destId="{2E6D62EE-1EBF-4D88-8134-E6A73C844722}" srcOrd="0" destOrd="0" presId="urn:microsoft.com/office/officeart/2018/2/layout/IconVerticalSolidList"/>
    <dgm:cxn modelId="{0166801C-3EEB-4404-A00C-C0A428E3A7FB}" type="presParOf" srcId="{19341AFA-76EC-45D9-952E-46427D0ECE6F}" destId="{4E248BCB-0E0A-45A8-A07D-F18E45783299}" srcOrd="1" destOrd="0" presId="urn:microsoft.com/office/officeart/2018/2/layout/IconVerticalSolidList"/>
    <dgm:cxn modelId="{E5686F28-A143-4AF7-831D-2C53969EED62}" type="presParOf" srcId="{19341AFA-76EC-45D9-952E-46427D0ECE6F}" destId="{400E9AD6-C62B-4B3E-B140-4C43CE43BC09}" srcOrd="2" destOrd="0" presId="urn:microsoft.com/office/officeart/2018/2/layout/IconVerticalSolidList"/>
    <dgm:cxn modelId="{70BE6C29-086D-4388-8BD6-B8CB32209F19}" type="presParOf" srcId="{19341AFA-76EC-45D9-952E-46427D0ECE6F}" destId="{3571A6D8-A28B-4B49-9849-5E8D3FAE6DB7}" srcOrd="3" destOrd="0" presId="urn:microsoft.com/office/officeart/2018/2/layout/IconVerticalSolidList"/>
    <dgm:cxn modelId="{23FCBFF1-D78B-44B0-87A2-D7F1A4DCC9DF}" type="presParOf" srcId="{7FDE43EF-3863-4DCE-A874-ABA0ACFEC19B}" destId="{BACFEB73-4B4A-470F-BD8C-4F0360FBCB26}" srcOrd="5" destOrd="0" presId="urn:microsoft.com/office/officeart/2018/2/layout/IconVerticalSolidList"/>
    <dgm:cxn modelId="{FAF5BC3A-5628-4377-A635-84D037594492}" type="presParOf" srcId="{7FDE43EF-3863-4DCE-A874-ABA0ACFEC19B}" destId="{BFE4E084-FD95-4846-A6ED-F53A229063D5}" srcOrd="6" destOrd="0" presId="urn:microsoft.com/office/officeart/2018/2/layout/IconVerticalSolidList"/>
    <dgm:cxn modelId="{6387579B-BACC-4B01-AD1F-BA0EA2E1FCA7}" type="presParOf" srcId="{BFE4E084-FD95-4846-A6ED-F53A229063D5}" destId="{FCCD1A2F-74E6-4579-A835-03D7104756CE}" srcOrd="0" destOrd="0" presId="urn:microsoft.com/office/officeart/2018/2/layout/IconVerticalSolidList"/>
    <dgm:cxn modelId="{22888FF7-0D04-4E51-9FC1-52E479A66465}" type="presParOf" srcId="{BFE4E084-FD95-4846-A6ED-F53A229063D5}" destId="{B026DF31-2196-430C-930B-BC077C5565A4}" srcOrd="1" destOrd="0" presId="urn:microsoft.com/office/officeart/2018/2/layout/IconVerticalSolidList"/>
    <dgm:cxn modelId="{36615257-6B27-4270-B3C3-0DA2D033F137}" type="presParOf" srcId="{BFE4E084-FD95-4846-A6ED-F53A229063D5}" destId="{BCA7844A-BA27-4837-B2F2-4ADD46127EB0}" srcOrd="2" destOrd="0" presId="urn:microsoft.com/office/officeart/2018/2/layout/IconVerticalSolidList"/>
    <dgm:cxn modelId="{33340241-3228-4F62-A45E-03763023B3EA}" type="presParOf" srcId="{BFE4E084-FD95-4846-A6ED-F53A229063D5}" destId="{F6B1B9AE-310D-4FCB-A24C-615975AC8DA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8C6B8-B881-4D08-BDF0-A3213B04CAE1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561902-02E8-423E-ABE2-9159C1BA5720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D7779-81C2-4920-A146-7753A50004EB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Project Description</a:t>
          </a:r>
          <a:endParaRPr lang="en-US" sz="2200" kern="1200"/>
        </a:p>
      </dsp:txBody>
      <dsp:txXfrm>
        <a:off x="1057183" y="1805"/>
        <a:ext cx="9458416" cy="915310"/>
      </dsp:txXfrm>
    </dsp:sp>
    <dsp:sp modelId="{FDC9DF2B-43ED-4D12-8E72-CC09D6BCA72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3E77D-5918-4D41-8064-56F559F8D16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D2F3B3-5784-486B-BDB6-824D4F663116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Project Methods</a:t>
          </a:r>
        </a:p>
      </dsp:txBody>
      <dsp:txXfrm>
        <a:off x="1057183" y="1145944"/>
        <a:ext cx="9458416" cy="915310"/>
      </dsp:txXfrm>
    </dsp:sp>
    <dsp:sp modelId="{2E6D62EE-1EBF-4D88-8134-E6A73C844722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48BCB-0E0A-45A8-A07D-F18E4578329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1A6D8-A28B-4B49-9849-5E8D3FAE6DB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Results and Discussion</a:t>
          </a:r>
        </a:p>
      </dsp:txBody>
      <dsp:txXfrm>
        <a:off x="1057183" y="2290082"/>
        <a:ext cx="9458416" cy="915310"/>
      </dsp:txXfrm>
    </dsp:sp>
    <dsp:sp modelId="{FCCD1A2F-74E6-4579-A835-03D7104756C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6DF31-2196-430C-930B-BC077C5565A4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1B9AE-310D-4FCB-A24C-615975AC8DA6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Conclusion</a:t>
          </a:r>
          <a:endParaRPr lang="en-US" sz="2200" kern="1200" dirty="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F494-E949-475F-879D-CA7DAF019B5F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4A5-C63E-4A17-BF00-5AD52B306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46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Purpose, the problem, the methods, the results, conclusion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a title slide (with the project name, Group Number, the team member names, and photos).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Make sure it has an outline slide with good descriptive section headings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Team names, photos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Project description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Some summary visual EDA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Feature engineering and Top features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Overview of Modeling Pipelines explored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Results and discussion of results (Accuracy, ROC/AUC, Kaggle scores, Kaggle submission Screen shots, etc.. from this phase and previous phases)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Conclusions (best performing model, number of features, top 10 best features, hyper-parameters) and next steps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53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93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puprose</a:t>
            </a:r>
            <a:r>
              <a:rPr lang="en-US" dirty="0"/>
              <a:t>, the problem, the methods, the results, 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81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Some summary visual EDA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Feature engineering and Top features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Overview of Modeling Pipelines explored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59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 Results and discussion of results (Accuracy, ROC/AUC, Kaggle scores, Kaggle submission Screen shots, etc.. from this phase and previous phases)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18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Conclusions (best performing model, number of features, top 10 best features, hyper-parameters) and next steps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1B4A5-C63E-4A17-BF00-5AD52B3067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9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C365-19DF-80FD-41EF-914FA0A64E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A7E3-3FA8-41F0-2DBD-E7BCE37C27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126E-8D53-D255-6209-384985CE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F9638-36E7-81DF-35B5-E5FF8ED8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AEFF-A628-9C65-0797-14ABBD31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73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A092-68AC-695C-8518-D8DCB486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34F9-11EF-3EF4-B027-034C3F9D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A1A72-012A-EC46-86E8-69B947DE6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2D37B-B497-43AE-58D7-5EB54E94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21CD8-929C-92B0-F507-71BDFF69F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E992-630D-262B-D803-3BC60D43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EB07D-B44D-B54F-01BB-CB7B1DAA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C579F-AA99-A3DB-688B-D4B157AA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3FB4-CE6C-2DD2-C31C-1C3BC376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9AE85-802A-6CA2-1AE7-30EE0657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2235-D6F3-6A6E-7EEF-95A15F54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D7C0-0043-DE6F-A62D-3B1D74DF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D836-7509-B517-E875-079205FBF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BE07A-ED5D-13A0-F846-2CBE03906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B969D-6ABD-E6D8-8B20-D875997E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69591-190D-615C-8208-3F85F1C4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6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4D17-E57F-224A-CFCA-C561B7772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649A8-E9BE-3871-B94C-469A3822E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73774-BABF-F26B-3865-6DFC010A3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D8D9B-C37E-61FE-08D0-7543155D47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8D17C-EB23-E7D6-96EA-4E7BAC1EB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7AAA3-DFC8-4E16-BECC-104673909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FF242-CCBF-4432-F260-AF6ED687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BAC56-2199-2CD7-E3F6-2374B40AC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D857-4AF9-4DB0-578B-112A6B10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96F4C-8DCF-0522-52A7-B2D9E1BA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DEBBA-CCAF-7C76-A43F-2FF73F7F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BD780-905E-4DD0-1334-134B14A9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1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0F142-A248-0A4A-B0DC-5AE1D8F9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ABC22-DB02-CA32-8BC4-507944A6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3AF71-F6BF-6C6A-ABF1-399BF312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6BD8-7109-44D7-BEB9-55D3BB56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2FE66-3FD5-364C-71A0-A4EBCF3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8949ED-9D97-8790-22FD-2DA92CE18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DC7BF-A43B-AB29-AF03-39C6DD02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825B1-E205-B401-EDDC-988FCC84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8AC7-9A12-4CC7-67E9-11B47AC0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9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885B-273C-D201-9C71-471715176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766D9-5085-E061-42F6-C1A7C6FED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7C3FB-9A99-1819-6EB2-95A4EC547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E79A7-2D67-9C3F-112C-58C6B0D4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1A256-6BC4-D2A4-04BD-DA415D38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E7776-8BE2-1AE2-7C7D-8BB8A72C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56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FEA0-CBD3-5EF3-0D80-E50E8F6C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31308-E1F4-110B-36DB-9C5FC2614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4913E-A7E7-F96D-E163-CAFED0D4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036F2-D90D-E910-A818-994D58C7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7938A-C6BC-4B60-EE52-52F29585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7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73B2B4-D684-0553-92C9-246A97852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17318-5714-8D76-68A9-E1FCA1DE0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207A8-7117-AB15-5A11-6F8F990E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D57B2-B062-EFFC-AFA3-2F0FE209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B6B5A-E4BF-C46B-1446-A9E58426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20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711ED-607E-EE24-6EE6-82993DB0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3F6B5-A28D-FA2C-5B27-700C0742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16D14-5643-47E1-A1A5-A54930239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3FB6F-84B6-43B8-8057-E050608D5FB3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C405-7B22-4443-5953-6F3A6CDFE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27685-B6AC-F71D-0C4E-CEB600502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EC421-DA98-4701-AC81-75AC05215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2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08_A32B211D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6D21F3-824F-86B4-D5AD-1ADBADC8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1942"/>
            <a:ext cx="9144000" cy="731422"/>
          </a:xfrm>
        </p:spPr>
        <p:txBody>
          <a:bodyPr>
            <a:normAutofit/>
          </a:bodyPr>
          <a:lstStyle/>
          <a:p>
            <a:r>
              <a:rPr lang="en-US" sz="1800" b="1"/>
              <a:t>Group Number: </a:t>
            </a:r>
            <a:r>
              <a:rPr lang="en-US" sz="1800"/>
              <a:t>3 </a:t>
            </a:r>
          </a:p>
          <a:p>
            <a:r>
              <a:rPr lang="en-US" sz="1800" b="1"/>
              <a:t>Team Name: </a:t>
            </a:r>
            <a:r>
              <a:rPr lang="en-US" sz="1800"/>
              <a:t>FP_Group_3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532D4C-753A-2F31-07D8-6BD56DE2878B}"/>
              </a:ext>
            </a:extLst>
          </p:cNvPr>
          <p:cNvSpPr txBox="1">
            <a:spLocks/>
          </p:cNvSpPr>
          <p:nvPr/>
        </p:nvSpPr>
        <p:spPr>
          <a:xfrm>
            <a:off x="1623607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Alicia Aaholm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4635B7-B3EA-4770-D87D-53C5C01E88E2}"/>
              </a:ext>
            </a:extLst>
          </p:cNvPr>
          <p:cNvSpPr txBox="1">
            <a:spLocks/>
          </p:cNvSpPr>
          <p:nvPr/>
        </p:nvSpPr>
        <p:spPr>
          <a:xfrm>
            <a:off x="4007794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Nicholas Chappell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B11C73-0DD8-8CED-3A73-1D4D0D0C9247}"/>
              </a:ext>
            </a:extLst>
          </p:cNvPr>
          <p:cNvSpPr/>
          <p:nvPr/>
        </p:nvSpPr>
        <p:spPr>
          <a:xfrm>
            <a:off x="0" y="1385695"/>
            <a:ext cx="12192000" cy="1451872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39A1F03-FEDE-BE8E-6CE7-18BD48851843}"/>
              </a:ext>
            </a:extLst>
          </p:cNvPr>
          <p:cNvSpPr txBox="1">
            <a:spLocks/>
          </p:cNvSpPr>
          <p:nvPr/>
        </p:nvSpPr>
        <p:spPr>
          <a:xfrm>
            <a:off x="6391981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Jaden Costa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3187227-F662-2CA8-CEC9-9C46D95AD458}"/>
              </a:ext>
            </a:extLst>
          </p:cNvPr>
          <p:cNvSpPr txBox="1">
            <a:spLocks/>
          </p:cNvSpPr>
          <p:nvPr/>
        </p:nvSpPr>
        <p:spPr>
          <a:xfrm>
            <a:off x="8776169" y="5635399"/>
            <a:ext cx="1792224" cy="301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Katia Torres Sanchez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42A409-85F4-CF35-0572-09C8A1EBD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1419" y="4378096"/>
            <a:ext cx="1121724" cy="1121724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C025B2-B038-7CBB-7C9B-4EA23DD17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419" y="111434"/>
            <a:ext cx="1109886" cy="11098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DAC671-4A3E-1449-C4E8-286C90BE1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1320"/>
            <a:ext cx="9144000" cy="1451872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HCDR Final Project</a:t>
            </a:r>
          </a:p>
        </p:txBody>
      </p:sp>
      <p:pic>
        <p:nvPicPr>
          <p:cNvPr id="10" name="Picture 9" descr="A person standing in front of a brick wall&#10;&#10;AI-generated content may be incorrect.">
            <a:extLst>
              <a:ext uri="{FF2B5EF4-FFF2-40B4-BE49-F238E27FC236}">
                <a16:creationId xmlns:a16="http://schemas.microsoft.com/office/drawing/2014/main" id="{3AB39938-311B-B071-AA88-AED5DB729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181" y="4311783"/>
            <a:ext cx="1190625" cy="1190625"/>
          </a:xfrm>
          <a:prstGeom prst="ellipse">
            <a:avLst/>
          </a:prstGeom>
        </p:spPr>
      </p:pic>
      <p:pic>
        <p:nvPicPr>
          <p:cNvPr id="8" name="Picture 7" descr="A person with blonde hair smiling&#10;&#10;AI-generated content may be incorrect.">
            <a:extLst>
              <a:ext uri="{FF2B5EF4-FFF2-40B4-BE49-F238E27FC236}">
                <a16:creationId xmlns:a16="http://schemas.microsoft.com/office/drawing/2014/main" id="{822B2B2F-0CE7-A40C-CB08-5CDE9C733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05" y="4279135"/>
            <a:ext cx="1190625" cy="1219200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40E60-4CD5-992C-7BE6-382CB007C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69" y="4325039"/>
            <a:ext cx="1209675" cy="12192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2171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D638-3924-672D-AA36-E94063E1B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C264EE-AC44-5B42-ED23-81FA64275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2854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591349E-E589-4E68-957F-F623E9CDDAF9}"/>
              </a:ext>
            </a:extLst>
          </p:cNvPr>
          <p:cNvSpPr/>
          <p:nvPr/>
        </p:nvSpPr>
        <p:spPr>
          <a:xfrm>
            <a:off x="0" y="1385695"/>
            <a:ext cx="12192000" cy="119255"/>
          </a:xfrm>
          <a:prstGeom prst="rect">
            <a:avLst/>
          </a:prstGeom>
          <a:solidFill>
            <a:srgbClr val="20B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67045-CA0E-FFDE-DA18-ABFACD43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/>
              <a:t>Project Description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6206CF1-8A5F-1DDD-C424-708C8CA45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/>
              <a:t>The purpose of the HCDR project model is to train a model to predict whether a lender would be able to pay off a loan. </a:t>
            </a:r>
          </a:p>
          <a:p>
            <a:r>
              <a:rPr lang="en-US" sz="2400"/>
              <a:t>Allow lending institutions to make smarter business decisions </a:t>
            </a:r>
          </a:p>
          <a:p>
            <a:r>
              <a:rPr lang="en-US" sz="2400"/>
              <a:t>Preventing however many hundreds or thousands of dollars from being lost due to poor investments. 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6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A2F488-A33A-25FB-9611-12AEA286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1361D-B43C-8F7A-2967-AFBEF8ABF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Project Methods: Summary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373CC-481D-4515-5599-CF311649F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Training set size: 222,176 rows, 14 features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Validation set size: 46,127 rows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Test set size: 39,208 rows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Kaggle test data size: 48,744 rows</a:t>
            </a: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E8F9623E-CF23-FDEE-E27C-B65FF2C71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8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E4EE4-A771-ECF6-68FA-F8106231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Methods: Feature Engineering</a:t>
            </a: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C90606FD-3EDD-B43D-E152-A5EB40CD9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34358-ED6B-CFBB-41D3-4067CE3A3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0574" y="2421682"/>
            <a:ext cx="4967552" cy="53237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chemeClr val="tx2"/>
                </a:solidFill>
              </a:rPr>
              <a:t>Best</a:t>
            </a:r>
            <a:r>
              <a:rPr lang="en-US" sz="1100" b="1" dirty="0">
                <a:solidFill>
                  <a:schemeClr val="tx2"/>
                </a:solidFill>
              </a:rPr>
              <a:t> Performing Model: </a:t>
            </a:r>
            <a:endParaRPr lang="en-US">
              <a:solidFill>
                <a:schemeClr val="tx2"/>
              </a:solidFill>
            </a:endParaRPr>
          </a:p>
          <a:p>
            <a:pPr marL="171450" indent="-171450"/>
            <a:r>
              <a:rPr lang="en-US" sz="1100" dirty="0">
                <a:solidFill>
                  <a:schemeClr val="tx2"/>
                </a:solidFill>
              </a:rPr>
              <a:t>    Ensemble (</a:t>
            </a:r>
            <a:r>
              <a:rPr lang="en-US" sz="1100" dirty="0" err="1">
                <a:solidFill>
                  <a:schemeClr val="tx2"/>
                </a:solidFill>
              </a:rPr>
              <a:t>LightGBM</a:t>
            </a:r>
            <a:r>
              <a:rPr lang="en-US" sz="1100" dirty="0">
                <a:solidFill>
                  <a:schemeClr val="tx2"/>
                </a:solidFill>
              </a:rPr>
              <a:t> + </a:t>
            </a:r>
            <a:r>
              <a:rPr lang="en-US" sz="1100" dirty="0" err="1">
                <a:solidFill>
                  <a:schemeClr val="tx2"/>
                </a:solidFill>
              </a:rPr>
              <a:t>CatBoost</a:t>
            </a:r>
            <a:r>
              <a:rPr lang="en-US" sz="1100" dirty="0">
                <a:solidFill>
                  <a:schemeClr val="tx2"/>
                </a:solidFill>
              </a:rPr>
              <a:t>) - highest ROC-AUC score (0.7526)</a:t>
            </a:r>
            <a:endParaRPr lang="en-US" sz="11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Number of Features:</a:t>
            </a:r>
            <a:r>
              <a:rPr lang="en-US" sz="1100" b="1">
                <a:solidFill>
                  <a:schemeClr val="tx2"/>
                </a:solidFill>
              </a:rPr>
              <a:t> </a:t>
            </a:r>
            <a:r>
              <a:rPr lang="en-US" sz="1100" dirty="0">
                <a:solidFill>
                  <a:schemeClr val="tx2"/>
                </a:solidFill>
              </a:rPr>
              <a:t>14</a:t>
            </a:r>
            <a:endParaRPr lang="en-US" sz="11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Best Features:</a:t>
            </a:r>
            <a:endParaRPr lang="en-US" sz="1100" b="1">
              <a:solidFill>
                <a:schemeClr val="tx2"/>
              </a:solidFill>
            </a:endParaRPr>
          </a:p>
          <a:p>
            <a:r>
              <a:rPr lang="en-US" sz="1100" dirty="0">
                <a:solidFill>
                  <a:schemeClr val="tx2"/>
                </a:solidFill>
              </a:rPr>
              <a:t>Engineered RFM features (e.g., loan Frequency, Monetary, Recency — shown earlier in notebook</a:t>
            </a:r>
            <a:r>
              <a:rPr lang="en-US" sz="1100">
                <a:solidFill>
                  <a:schemeClr val="tx2"/>
                </a:solidFill>
              </a:rPr>
              <a:t>) - All three features have had a steep decline in importance in more recent runs potentially due to weighted differences in seed shuffling.</a:t>
            </a:r>
            <a:endParaRPr lang="en-US" sz="1100" dirty="0">
              <a:solidFill>
                <a:schemeClr val="tx2"/>
              </a:solidFill>
            </a:endParaRPr>
          </a:p>
          <a:p>
            <a:r>
              <a:rPr lang="en-US" sz="1100" dirty="0">
                <a:solidFill>
                  <a:schemeClr val="tx2"/>
                </a:solidFill>
              </a:rPr>
              <a:t>One-Hot-Encoded categorical attributes</a:t>
            </a:r>
          </a:p>
          <a:p>
            <a:r>
              <a:rPr lang="en-US" sz="1100" dirty="0">
                <a:solidFill>
                  <a:schemeClr val="tx2"/>
                </a:solidFill>
              </a:rPr>
              <a:t>Numeric baseline features</a:t>
            </a:r>
          </a:p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Hyper-Parameter Characteristics:</a:t>
            </a:r>
            <a:endParaRPr lang="en-US">
              <a:solidFill>
                <a:schemeClr val="tx2"/>
              </a:solidFill>
            </a:endParaRPr>
          </a:p>
          <a:p>
            <a:r>
              <a:rPr lang="en-US" sz="1100" dirty="0" err="1">
                <a:solidFill>
                  <a:schemeClr val="tx2"/>
                </a:solidFill>
              </a:rPr>
              <a:t>LightGBM</a:t>
            </a:r>
            <a:r>
              <a:rPr lang="en-US" sz="1100" dirty="0">
                <a:solidFill>
                  <a:schemeClr val="tx2"/>
                </a:solidFill>
              </a:rPr>
              <a:t> and </a:t>
            </a:r>
            <a:r>
              <a:rPr lang="en-US" sz="1100" dirty="0" err="1">
                <a:solidFill>
                  <a:schemeClr val="tx2"/>
                </a:solidFill>
              </a:rPr>
              <a:t>CatBoost</a:t>
            </a:r>
            <a:r>
              <a:rPr lang="en-US" sz="1100" dirty="0">
                <a:solidFill>
                  <a:schemeClr val="tx2"/>
                </a:solidFill>
              </a:rPr>
              <a:t> were run with standard or lightly-tuned defaults</a:t>
            </a:r>
          </a:p>
          <a:p>
            <a:r>
              <a:rPr lang="en-US" sz="1100" dirty="0">
                <a:solidFill>
                  <a:schemeClr val="tx2"/>
                </a:solidFill>
              </a:rPr>
              <a:t>No evidence of grid search or Bayesian tuning appears in Phase 4</a:t>
            </a:r>
          </a:p>
          <a:p>
            <a:r>
              <a:rPr lang="en-US" sz="1100" dirty="0">
                <a:solidFill>
                  <a:schemeClr val="tx2"/>
                </a:solidFill>
              </a:rPr>
              <a:t>Ensemble uses soft voting with equal weights (1, 1)</a:t>
            </a:r>
          </a:p>
          <a:p>
            <a:r>
              <a:rPr lang="en-US" sz="1100">
                <a:solidFill>
                  <a:schemeClr val="tx2"/>
                </a:solidFill>
              </a:rPr>
              <a:t>Moderate Learning Rate of  0.05</a:t>
            </a:r>
          </a:p>
          <a:p>
            <a:r>
              <a:rPr lang="en-US" sz="1100">
                <a:solidFill>
                  <a:schemeClr val="tx2"/>
                </a:solidFill>
              </a:rPr>
              <a:t>Constrained Complexity: </a:t>
            </a:r>
            <a:r>
              <a:rPr lang="en-US" sz="1100" err="1">
                <a:solidFill>
                  <a:schemeClr val="tx2"/>
                </a:solidFill>
              </a:rPr>
              <a:t>num_leaves</a:t>
            </a:r>
            <a:r>
              <a:rPr lang="en-US" sz="1100">
                <a:solidFill>
                  <a:schemeClr val="tx2"/>
                </a:solidFill>
              </a:rPr>
              <a:t> = 31, this restricts individual tree complexity (Helpful for tabular data) </a:t>
            </a:r>
          </a:p>
          <a:p>
            <a:endParaRPr lang="en-US" sz="1100">
              <a:solidFill>
                <a:schemeClr val="tx2"/>
              </a:solidFill>
            </a:endParaRPr>
          </a:p>
          <a:p>
            <a:endParaRPr lang="en-US" sz="1100">
              <a:solidFill>
                <a:schemeClr val="tx2"/>
              </a:solidFill>
            </a:endParaRPr>
          </a:p>
          <a:p>
            <a:endParaRPr lang="en-US" sz="1100" b="1">
              <a:solidFill>
                <a:schemeClr val="tx2"/>
              </a:solidFill>
            </a:endParaRPr>
          </a:p>
          <a:p>
            <a:endParaRPr lang="en-US" sz="1100">
              <a:solidFill>
                <a:schemeClr val="tx2"/>
              </a:solidFill>
            </a:endParaRPr>
          </a:p>
          <a:p>
            <a:endParaRPr lang="en-US" sz="11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375127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0EB412D-35E3-09AC-4E99-D981A9110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Methods: Modeling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CC80D-63C7-1D84-18B2-758CC85C4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Multiple models were trained and compared including LightGBM and Random Forest.</a:t>
            </a:r>
          </a:p>
          <a:p>
            <a:r>
              <a:rPr lang="en-US" sz="1800">
                <a:solidFill>
                  <a:schemeClr val="tx2"/>
                </a:solidFill>
              </a:rPr>
              <a:t>Feature preprocessing was handled through a pipeline with separate numerical and categorical branches.</a:t>
            </a:r>
          </a:p>
          <a:p>
            <a:r>
              <a:rPr lang="en-US" sz="1800">
                <a:solidFill>
                  <a:schemeClr val="tx2"/>
                </a:solidFill>
              </a:rPr>
              <a:t>One-Hot Encoding expanded categorical feature space, requiring reconstruction of final feature names for interpretability.</a:t>
            </a:r>
          </a:p>
          <a:p>
            <a:r>
              <a:rPr lang="en-US" sz="1800">
                <a:solidFill>
                  <a:schemeClr val="tx2"/>
                </a:solidFill>
              </a:rPr>
              <a:t>Notebook notes emphasize: “The Ensemble and two models have added features so the Ensemble Model is technically the best overall performer.”</a:t>
            </a:r>
          </a:p>
        </p:txBody>
      </p:sp>
    </p:spTree>
    <p:extLst>
      <p:ext uri="{BB962C8B-B14F-4D97-AF65-F5344CB8AC3E}">
        <p14:creationId xmlns:p14="http://schemas.microsoft.com/office/powerpoint/2010/main" val="182460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CC737-80CA-C41B-6A72-E02A62D6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Results and Discussion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73BCB-3B7E-9279-B11B-23F0EB01D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ACCURACY</a:t>
            </a:r>
            <a:r>
              <a:rPr lang="en-US" sz="2000"/>
              <a:t>: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Accuracy was not the primary metric due to dataset imbalance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Ensemble and gradient boosting models showed the best balance of precision and recall.</a:t>
            </a:r>
            <a:endParaRPr lang="en-US" sz="2000"/>
          </a:p>
          <a:p>
            <a:pPr marL="0" indent="0">
              <a:buNone/>
            </a:pPr>
            <a:r>
              <a:rPr lang="en-US" sz="2000" dirty="0"/>
              <a:t>ROC/AUC</a:t>
            </a:r>
            <a:r>
              <a:rPr lang="en-US" sz="2000"/>
              <a:t>:</a:t>
            </a:r>
          </a:p>
          <a:p>
            <a:r>
              <a:rPr lang="en-US" sz="2000">
                <a:ea typeface="+mn-lt"/>
                <a:cs typeface="+mn-lt"/>
              </a:rPr>
              <a:t>Ensemble (</a:t>
            </a:r>
            <a:r>
              <a:rPr lang="en-US" sz="2000" err="1">
                <a:ea typeface="+mn-lt"/>
                <a:cs typeface="+mn-lt"/>
              </a:rPr>
              <a:t>LightGBM</a:t>
            </a:r>
            <a:r>
              <a:rPr lang="en-US" sz="2000">
                <a:ea typeface="+mn-lt"/>
                <a:cs typeface="+mn-lt"/>
              </a:rPr>
              <a:t> + </a:t>
            </a:r>
            <a:r>
              <a:rPr lang="en-US" sz="2000" err="1">
                <a:ea typeface="+mn-lt"/>
                <a:cs typeface="+mn-lt"/>
              </a:rPr>
              <a:t>CatBoost</a:t>
            </a:r>
            <a:r>
              <a:rPr lang="en-US" sz="2000">
                <a:ea typeface="+mn-lt"/>
                <a:cs typeface="+mn-lt"/>
              </a:rPr>
              <a:t>): 0.7526 (best overall)</a:t>
            </a:r>
            <a:endParaRPr lang="en-US" sz="2000"/>
          </a:p>
          <a:p>
            <a:r>
              <a:rPr lang="en-US" sz="2000" err="1">
                <a:ea typeface="+mn-lt"/>
                <a:cs typeface="+mn-lt"/>
              </a:rPr>
              <a:t>LightGBM</a:t>
            </a:r>
            <a:r>
              <a:rPr lang="en-US" sz="2000">
                <a:ea typeface="+mn-lt"/>
                <a:cs typeface="+mn-lt"/>
              </a:rPr>
              <a:t>: 0.7480</a:t>
            </a:r>
            <a:endParaRPr lang="en-US"/>
          </a:p>
          <a:p>
            <a:r>
              <a:rPr lang="en-US" sz="2000" err="1">
                <a:ea typeface="+mn-lt"/>
                <a:cs typeface="+mn-lt"/>
              </a:rPr>
              <a:t>CatBoost</a:t>
            </a:r>
            <a:r>
              <a:rPr lang="en-US" sz="2000">
                <a:ea typeface="+mn-lt"/>
                <a:cs typeface="+mn-lt"/>
              </a:rPr>
              <a:t>: 0.7414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XGBoost2: 0.7403</a:t>
            </a:r>
            <a:endParaRPr lang="en-US"/>
          </a:p>
          <a:p>
            <a:pPr marL="0" indent="0">
              <a:buNone/>
            </a:pPr>
            <a:r>
              <a:rPr lang="en-US" sz="2000" dirty="0"/>
              <a:t>KAGGLE SCORE</a:t>
            </a:r>
            <a:r>
              <a:rPr lang="en-US" sz="2000"/>
              <a:t>:</a:t>
            </a:r>
          </a:p>
          <a:p>
            <a:r>
              <a:rPr lang="en-US" sz="2000">
                <a:ea typeface="+mn-lt"/>
                <a:cs typeface="+mn-lt"/>
              </a:rPr>
              <a:t>The Kaggle score was consistent with the model’s overall performance indicating stable generalization on unseen data.</a:t>
            </a: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66290FF5-C561-F3E0-CF88-305CCB62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154" y="581892"/>
            <a:ext cx="3889971" cy="2518756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407078-941C-CF30-0BB8-35B58BD57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897" y="3707894"/>
            <a:ext cx="1994621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3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3D6674-2233-28FA-7866-B0C83A39B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/>
              <a:t>Conclusion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8C7EA-DF28-4D34-442D-B90B0B13C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Best Performing Model: </a:t>
            </a:r>
            <a:r>
              <a:rPr lang="en-US" sz="1800"/>
              <a:t>Ensemble (LGBM + CAT) ;ROC_AUC= .75</a:t>
            </a:r>
          </a:p>
          <a:p>
            <a:r>
              <a:rPr lang="en-US" sz="2400" dirty="0"/>
              <a:t>Number of Features: </a:t>
            </a:r>
            <a:r>
              <a:rPr lang="en-US" sz="1800"/>
              <a:t>57(After </a:t>
            </a:r>
            <a:r>
              <a:rPr lang="en-US" sz="1800" err="1"/>
              <a:t>OHE+previous</a:t>
            </a:r>
            <a:r>
              <a:rPr lang="en-US" sz="1800"/>
              <a:t> application features)</a:t>
            </a:r>
          </a:p>
          <a:p>
            <a:r>
              <a:rPr lang="en-US" sz="2400" dirty="0"/>
              <a:t>Top 10 Best Features: </a:t>
            </a:r>
            <a:r>
              <a:rPr lang="en-US" sz="1800"/>
              <a:t>CODE_GENDER_M, EXT_SOURCE_3, </a:t>
            </a:r>
            <a:r>
              <a:rPr lang="en-US" sz="1800" err="1"/>
              <a:t>NAME_EDUCATION_TYPE_Higher</a:t>
            </a:r>
            <a:r>
              <a:rPr lang="en-US" sz="1800"/>
              <a:t> EDUCATION, EXT_SOURCE_2, CODE_GENDER_F, </a:t>
            </a:r>
            <a:r>
              <a:rPr lang="en-US" sz="1800" err="1"/>
              <a:t>NAME_INCOME_TYPE_Pensioner,NAME_CONTRACT_TYPE_Cash</a:t>
            </a:r>
            <a:r>
              <a:rPr lang="en-US" sz="1800"/>
              <a:t> loans, </a:t>
            </a:r>
            <a:r>
              <a:rPr lang="en-US" sz="1800" err="1"/>
              <a:t>FLAG_OWN_CAR_N,NAME_INCOME_TYPE_Working</a:t>
            </a:r>
            <a:r>
              <a:rPr lang="en-US" sz="1800"/>
              <a:t>, </a:t>
            </a:r>
            <a:r>
              <a:rPr lang="en-US" sz="1800" err="1"/>
              <a:t>NAME_EDUCATION_TYPE_Secondary</a:t>
            </a:r>
            <a:r>
              <a:rPr lang="en-US" sz="1800"/>
              <a:t> / secondary special</a:t>
            </a:r>
          </a:p>
          <a:p>
            <a:r>
              <a:rPr lang="en-US" sz="2400" dirty="0"/>
              <a:t>Hyper-Parameters: </a:t>
            </a:r>
            <a:r>
              <a:rPr lang="en-US" sz="1800" err="1"/>
              <a:t>LightGBM</a:t>
            </a:r>
            <a:r>
              <a:rPr lang="en-US" sz="1800"/>
              <a:t> when tuned, achieved a peak AUC of ~0.7454 in contrast to the Deep Learning Model </a:t>
            </a:r>
            <a:r>
              <a:rPr lang="en-US" sz="1800" err="1"/>
              <a:t>achieveing</a:t>
            </a:r>
            <a:r>
              <a:rPr lang="en-US" sz="1800"/>
              <a:t> 0.7448(No hyperparameters). This shows that engineered features where most likely a primary driver in both models for performance. </a:t>
            </a:r>
          </a:p>
          <a:p>
            <a:pPr marL="0" indent="0">
              <a:buNone/>
            </a:pP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3377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Widescreen</PresentationFormat>
  <Paragraphs>44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HCDR Final Project</vt:lpstr>
      <vt:lpstr>Outline</vt:lpstr>
      <vt:lpstr>Project Description</vt:lpstr>
      <vt:lpstr>Project Methods: Summary EDA</vt:lpstr>
      <vt:lpstr>Project Methods: Feature Engineering</vt:lpstr>
      <vt:lpstr>Project Methods: Modeling Pipelines</vt:lpstr>
      <vt:lpstr>Results and Discussion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 Sanchez, Katia</dc:creator>
  <cp:lastModifiedBy>Torres Sanchez, Katia</cp:lastModifiedBy>
  <cp:revision>81</cp:revision>
  <dcterms:created xsi:type="dcterms:W3CDTF">2025-11-18T20:17:02Z</dcterms:created>
  <dcterms:modified xsi:type="dcterms:W3CDTF">2025-12-10T00:10:48Z</dcterms:modified>
</cp:coreProperties>
</file>