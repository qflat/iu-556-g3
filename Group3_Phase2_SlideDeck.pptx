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2_58A02974.xml" ContentType="application/vnd.ms-powerpoint.comments+xml"/>
  <Override PartName="/ppt/comments/modernComment_103_D6C72C8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2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9F5346-CB21-C481-262F-A99681B2851A}" name="Costa, Jaden P" initials="CJ" userId="S::jpcosta@iu.edu::1ae4700b-af09-4b8c-8569-d4692e1db935" providerId="AD"/>
  <p188:author id="{AE052060-5A43-32C6-2B79-5421E65119BA}" name="Torres Sanchez, Katia" initials="KT" userId="S::ktorress@iu.edu::04b30394-1ca7-4059-8352-3fd15bede1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274D4-D8C1-48C0-8BB9-44D01F06B652}" v="1" dt="2025-11-19T03:38:50.864"/>
    <p1510:client id="{535ACF3C-DF89-4AF2-B011-274DDCDEAAD4}" v="122" dt="2025-11-19T03:29:59.384"/>
    <p1510:client id="{8E7EFDE4-081E-1E04-D937-04E41727551C}" v="98" dt="2025-11-19T03:08:17.812"/>
    <p1510:client id="{909B443E-45BD-E81B-61A9-6F1CD0D84E3C}" v="640" dt="2025-11-19T01:30:42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omments/modernComment_102_58A029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A47F9A-9BBC-4B65-8ADE-BBAF933E2FDD}" authorId="{FA9F5346-CB21-C481-262F-A99681B2851A}" created="2025-11-18T23:05:59.48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86891380" sldId="258"/>
      <ac:spMk id="3" creationId="{0462DA76-0674-6DD8-7D43-6C72308CAB43}"/>
      <ac:txMk cp="1" len="123">
        <ac:context len="273" hash="3422072108"/>
      </ac:txMk>
    </ac:txMkLst>
    <p188:pos x="2120746" y="1992216"/>
    <p188:replyLst>
      <p188:reply id="{7538DA9A-9043-4C72-B0B5-D354F7622F2F}" authorId="{FA9F5346-CB21-C481-262F-A99681B2851A}" created="2025-11-19T01:29:38.493">
        <p188:txBody>
          <a:bodyPr/>
          <a:lstStyle/>
          <a:p>
            <a:r>
              <a:rPr lang="en-US"/>
              <a:t>If we want a different visual on this slide we can do that too</a:t>
            </a:r>
          </a:p>
        </p188:txBody>
      </p188:reply>
    </p188:replyLst>
    <p188:txBody>
      <a:bodyPr/>
      <a:lstStyle/>
      <a:p>
        <a:r>
          <a:rPr lang="en-US"/>
          <a:t>Hopefully this is good, we can add more if needed I just thought I'd get this started</a:t>
        </a:r>
      </a:p>
    </p188:txBody>
  </p188:cm>
  <p188:cm id="{D8C99D8E-8960-4904-B017-0E6AA119C8E3}" authorId="{AE052060-5A43-32C6-2B79-5421E65119BA}" created="2025-11-19T02:02:12.0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86891380" sldId="258"/>
      <ac:spMk id="3" creationId="{0462DA76-0674-6DD8-7D43-6C72308CAB43}"/>
      <ac:txMk cp="180" len="91">
        <ac:context len="273" hash="3422072108"/>
      </ac:txMk>
    </ac:txMkLst>
    <p188:pos x="4567575" y="2072302"/>
    <p188:txBody>
      <a:bodyPr/>
      <a:lstStyle/>
      <a:p>
        <a:r>
          <a:rPr lang="en-US"/>
          <a:t>&lt;Overview of Modeling Pipelines explored&gt;</a:t>
        </a:r>
      </a:p>
    </p188:txBody>
  </p188:cm>
</p188:cmLst>
</file>

<file path=ppt/comments/modernComment_103_D6C72C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E2CC64-88BD-4AFF-ADE1-7BA14F973C79}" authorId="{FA9F5346-CB21-C481-262F-A99681B2851A}" created="2025-11-19T01:19:55.0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03377290" sldId="259"/>
      <ac:spMk id="3" creationId="{DDB8C7EA-DF28-4D34-442D-B90B0B13C980}"/>
    </ac:deMkLst>
    <p188:replyLst>
      <p188:reply id="{8FDDF157-5856-4BED-9280-28B5190D5A94}" authorId="{FA9F5346-CB21-C481-262F-A99681B2851A}" created="2025-11-19T01:20:01.426">
        <p188:txBody>
          <a:bodyPr/>
          <a:lstStyle/>
          <a:p>
            <a:r>
              <a:rPr lang="en-US"/>
              <a:t>Problems: Where are you feeling stuck? Is there anything you
need guidance on? Maybe your classmates will have a solution, or
maybe the Instruction Team can try to help during labs and office
hours.</a:t>
            </a:r>
          </a:p>
        </p188:txBody>
      </p188:reply>
    </p188:replyLst>
    <p188:txBody>
      <a:bodyPr/>
      <a:lstStyle/>
      <a:p>
        <a:r>
          <a:rPr lang="en-US"/>
          <a:t>Planned: What additional work are you planning to do in Phase
3? Based on your discoveries in the current phase, how will you
extend your work to improve results? 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9EEB8-9BAC-4308-AB99-1208955248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F10916-261A-4CBD-BCBD-D715C6FB6C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Project Description</a:t>
          </a:r>
          <a:endParaRPr lang="en-US"/>
        </a:p>
      </dgm:t>
    </dgm:pt>
    <dgm:pt modelId="{6CFA8C1E-B6F5-419E-A637-9C109BB6EDD0}" type="parTrans" cxnId="{5DD8B8B7-CF53-4320-B17A-EEA8E7C00DE8}">
      <dgm:prSet/>
      <dgm:spPr/>
      <dgm:t>
        <a:bodyPr/>
        <a:lstStyle/>
        <a:p>
          <a:endParaRPr lang="en-US"/>
        </a:p>
      </dgm:t>
    </dgm:pt>
    <dgm:pt modelId="{7F8C541A-ABAB-437A-ABBF-67D4AB6DE896}" type="sibTrans" cxnId="{5DD8B8B7-CF53-4320-B17A-EEA8E7C00DE8}">
      <dgm:prSet/>
      <dgm:spPr/>
      <dgm:t>
        <a:bodyPr/>
        <a:lstStyle/>
        <a:p>
          <a:endParaRPr lang="en-US"/>
        </a:p>
      </dgm:t>
    </dgm:pt>
    <dgm:pt modelId="{E40403D2-83EA-4D0E-A934-916E9CF731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Phase 2 EDA and Pipelines</a:t>
          </a:r>
          <a:endParaRPr lang="en-US"/>
        </a:p>
      </dgm:t>
    </dgm:pt>
    <dgm:pt modelId="{D775E4FF-F04E-41A8-9151-A9C276B16AB5}" type="parTrans" cxnId="{2CAE8C66-1CB1-4B59-8745-503FB855717E}">
      <dgm:prSet/>
      <dgm:spPr/>
      <dgm:t>
        <a:bodyPr/>
        <a:lstStyle/>
        <a:p>
          <a:endParaRPr lang="en-US"/>
        </a:p>
      </dgm:t>
    </dgm:pt>
    <dgm:pt modelId="{E24A711E-099C-4E57-BDDC-E2A6F88AE2B6}" type="sibTrans" cxnId="{2CAE8C66-1CB1-4B59-8745-503FB855717E}">
      <dgm:prSet/>
      <dgm:spPr/>
      <dgm:t>
        <a:bodyPr/>
        <a:lstStyle/>
        <a:p>
          <a:endParaRPr lang="en-US"/>
        </a:p>
      </dgm:t>
    </dgm:pt>
    <dgm:pt modelId="{8E08B5E5-62D5-4C9B-9B30-7BB7328621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Phase 2 Results</a:t>
          </a:r>
          <a:endParaRPr lang="en-US"/>
        </a:p>
      </dgm:t>
    </dgm:pt>
    <dgm:pt modelId="{F7751749-9EB7-449D-8BFB-C178F493B502}" type="parTrans" cxnId="{95F15916-C281-4D0A-BA95-A655AAF3932F}">
      <dgm:prSet/>
      <dgm:spPr/>
      <dgm:t>
        <a:bodyPr/>
        <a:lstStyle/>
        <a:p>
          <a:endParaRPr lang="en-US"/>
        </a:p>
      </dgm:t>
    </dgm:pt>
    <dgm:pt modelId="{144E6045-2913-4DAE-94BA-9C81A968F458}" type="sibTrans" cxnId="{95F15916-C281-4D0A-BA95-A655AAF3932F}">
      <dgm:prSet/>
      <dgm:spPr/>
      <dgm:t>
        <a:bodyPr/>
        <a:lstStyle/>
        <a:p>
          <a:endParaRPr lang="en-US"/>
        </a:p>
      </dgm:t>
    </dgm:pt>
    <dgm:pt modelId="{03E67CC2-4F27-4A01-AB33-F40BD454E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Conclusion and Next Steps</a:t>
          </a:r>
          <a:endParaRPr lang="en-US"/>
        </a:p>
      </dgm:t>
    </dgm:pt>
    <dgm:pt modelId="{A6AD21DF-D502-4387-8367-52AB3DE472E8}" type="parTrans" cxnId="{FE60BF02-3545-4435-B72A-00A3EF80FDB4}">
      <dgm:prSet/>
      <dgm:spPr/>
      <dgm:t>
        <a:bodyPr/>
        <a:lstStyle/>
        <a:p>
          <a:endParaRPr lang="en-US"/>
        </a:p>
      </dgm:t>
    </dgm:pt>
    <dgm:pt modelId="{021978B6-6EFD-4370-8A5A-175CF753DBBA}" type="sibTrans" cxnId="{FE60BF02-3545-4435-B72A-00A3EF80FDB4}">
      <dgm:prSet/>
      <dgm:spPr/>
      <dgm:t>
        <a:bodyPr/>
        <a:lstStyle/>
        <a:p>
          <a:endParaRPr lang="en-US"/>
        </a:p>
      </dgm:t>
    </dgm:pt>
    <dgm:pt modelId="{7FDE43EF-3863-4DCE-A874-ABA0ACFEC19B}" type="pres">
      <dgm:prSet presAssocID="{A9F9EEB8-9BAC-4308-AB99-1208955248D7}" presName="root" presStyleCnt="0">
        <dgm:presLayoutVars>
          <dgm:dir/>
          <dgm:resizeHandles val="exact"/>
        </dgm:presLayoutVars>
      </dgm:prSet>
      <dgm:spPr/>
    </dgm:pt>
    <dgm:pt modelId="{89C2E6D3-D7D1-4808-A484-44B57148F601}" type="pres">
      <dgm:prSet presAssocID="{F2F10916-261A-4CBD-BCBD-D715C6FB6C8E}" presName="compNode" presStyleCnt="0"/>
      <dgm:spPr/>
    </dgm:pt>
    <dgm:pt modelId="{F2B8C6B8-B881-4D08-BDF0-A3213B04CAE1}" type="pres">
      <dgm:prSet presAssocID="{F2F10916-261A-4CBD-BCBD-D715C6FB6C8E}" presName="bgRect" presStyleLbl="bgShp" presStyleIdx="0" presStyleCnt="4"/>
      <dgm:spPr/>
    </dgm:pt>
    <dgm:pt modelId="{20561902-02E8-423E-ABE2-9159C1BA5720}" type="pres">
      <dgm:prSet presAssocID="{F2F10916-261A-4CBD-BCBD-D715C6FB6C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7B105F-8F4D-406C-A9B0-87BD423143EC}" type="pres">
      <dgm:prSet presAssocID="{F2F10916-261A-4CBD-BCBD-D715C6FB6C8E}" presName="spaceRect" presStyleCnt="0"/>
      <dgm:spPr/>
    </dgm:pt>
    <dgm:pt modelId="{7E7D7779-81C2-4920-A146-7753A50004EB}" type="pres">
      <dgm:prSet presAssocID="{F2F10916-261A-4CBD-BCBD-D715C6FB6C8E}" presName="parTx" presStyleLbl="revTx" presStyleIdx="0" presStyleCnt="4">
        <dgm:presLayoutVars>
          <dgm:chMax val="0"/>
          <dgm:chPref val="0"/>
        </dgm:presLayoutVars>
      </dgm:prSet>
      <dgm:spPr/>
    </dgm:pt>
    <dgm:pt modelId="{9DC9A738-CD01-4893-8521-72AA741103F1}" type="pres">
      <dgm:prSet presAssocID="{7F8C541A-ABAB-437A-ABBF-67D4AB6DE896}" presName="sibTrans" presStyleCnt="0"/>
      <dgm:spPr/>
    </dgm:pt>
    <dgm:pt modelId="{E1055126-8ED0-44AF-8CD6-D1B1990EB783}" type="pres">
      <dgm:prSet presAssocID="{E40403D2-83EA-4D0E-A934-916E9CF73132}" presName="compNode" presStyleCnt="0"/>
      <dgm:spPr/>
    </dgm:pt>
    <dgm:pt modelId="{FDC9DF2B-43ED-4D12-8E72-CC09D6BCA720}" type="pres">
      <dgm:prSet presAssocID="{E40403D2-83EA-4D0E-A934-916E9CF73132}" presName="bgRect" presStyleLbl="bgShp" presStyleIdx="1" presStyleCnt="4"/>
      <dgm:spPr/>
    </dgm:pt>
    <dgm:pt modelId="{3543E77D-5918-4D41-8064-56F559F8D165}" type="pres">
      <dgm:prSet presAssocID="{E40403D2-83EA-4D0E-A934-916E9CF731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756A9E-E41A-4DA2-A088-1C9047BEC844}" type="pres">
      <dgm:prSet presAssocID="{E40403D2-83EA-4D0E-A934-916E9CF73132}" presName="spaceRect" presStyleCnt="0"/>
      <dgm:spPr/>
    </dgm:pt>
    <dgm:pt modelId="{52D2F3B3-5784-486B-BDB6-824D4F663116}" type="pres">
      <dgm:prSet presAssocID="{E40403D2-83EA-4D0E-A934-916E9CF73132}" presName="parTx" presStyleLbl="revTx" presStyleIdx="1" presStyleCnt="4">
        <dgm:presLayoutVars>
          <dgm:chMax val="0"/>
          <dgm:chPref val="0"/>
        </dgm:presLayoutVars>
      </dgm:prSet>
      <dgm:spPr/>
    </dgm:pt>
    <dgm:pt modelId="{0772ED46-5A95-4DEE-BB1F-89655C5A5C4C}" type="pres">
      <dgm:prSet presAssocID="{E24A711E-099C-4E57-BDDC-E2A6F88AE2B6}" presName="sibTrans" presStyleCnt="0"/>
      <dgm:spPr/>
    </dgm:pt>
    <dgm:pt modelId="{19341AFA-76EC-45D9-952E-46427D0ECE6F}" type="pres">
      <dgm:prSet presAssocID="{8E08B5E5-62D5-4C9B-9B30-7BB7328621F8}" presName="compNode" presStyleCnt="0"/>
      <dgm:spPr/>
    </dgm:pt>
    <dgm:pt modelId="{2E6D62EE-1EBF-4D88-8134-E6A73C844722}" type="pres">
      <dgm:prSet presAssocID="{8E08B5E5-62D5-4C9B-9B30-7BB7328621F8}" presName="bgRect" presStyleLbl="bgShp" presStyleIdx="2" presStyleCnt="4"/>
      <dgm:spPr/>
    </dgm:pt>
    <dgm:pt modelId="{4E248BCB-0E0A-45A8-A07D-F18E45783299}" type="pres">
      <dgm:prSet presAssocID="{8E08B5E5-62D5-4C9B-9B30-7BB7328621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400E9AD6-C62B-4B3E-B140-4C43CE43BC09}" type="pres">
      <dgm:prSet presAssocID="{8E08B5E5-62D5-4C9B-9B30-7BB7328621F8}" presName="spaceRect" presStyleCnt="0"/>
      <dgm:spPr/>
    </dgm:pt>
    <dgm:pt modelId="{3571A6D8-A28B-4B49-9849-5E8D3FAE6DB7}" type="pres">
      <dgm:prSet presAssocID="{8E08B5E5-62D5-4C9B-9B30-7BB7328621F8}" presName="parTx" presStyleLbl="revTx" presStyleIdx="2" presStyleCnt="4">
        <dgm:presLayoutVars>
          <dgm:chMax val="0"/>
          <dgm:chPref val="0"/>
        </dgm:presLayoutVars>
      </dgm:prSet>
      <dgm:spPr/>
    </dgm:pt>
    <dgm:pt modelId="{BACFEB73-4B4A-470F-BD8C-4F0360FBCB26}" type="pres">
      <dgm:prSet presAssocID="{144E6045-2913-4DAE-94BA-9C81A968F458}" presName="sibTrans" presStyleCnt="0"/>
      <dgm:spPr/>
    </dgm:pt>
    <dgm:pt modelId="{BFE4E084-FD95-4846-A6ED-F53A229063D5}" type="pres">
      <dgm:prSet presAssocID="{03E67CC2-4F27-4A01-AB33-F40BD454E777}" presName="compNode" presStyleCnt="0"/>
      <dgm:spPr/>
    </dgm:pt>
    <dgm:pt modelId="{FCCD1A2F-74E6-4579-A835-03D7104756CE}" type="pres">
      <dgm:prSet presAssocID="{03E67CC2-4F27-4A01-AB33-F40BD454E777}" presName="bgRect" presStyleLbl="bgShp" presStyleIdx="3" presStyleCnt="4"/>
      <dgm:spPr/>
    </dgm:pt>
    <dgm:pt modelId="{B026DF31-2196-430C-930B-BC077C5565A4}" type="pres">
      <dgm:prSet presAssocID="{03E67CC2-4F27-4A01-AB33-F40BD454E7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CA7844A-BA27-4837-B2F2-4ADD46127EB0}" type="pres">
      <dgm:prSet presAssocID="{03E67CC2-4F27-4A01-AB33-F40BD454E777}" presName="spaceRect" presStyleCnt="0"/>
      <dgm:spPr/>
    </dgm:pt>
    <dgm:pt modelId="{F6B1B9AE-310D-4FCB-A24C-615975AC8DA6}" type="pres">
      <dgm:prSet presAssocID="{03E67CC2-4F27-4A01-AB33-F40BD454E7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60BF02-3545-4435-B72A-00A3EF80FDB4}" srcId="{A9F9EEB8-9BAC-4308-AB99-1208955248D7}" destId="{03E67CC2-4F27-4A01-AB33-F40BD454E777}" srcOrd="3" destOrd="0" parTransId="{A6AD21DF-D502-4387-8367-52AB3DE472E8}" sibTransId="{021978B6-6EFD-4370-8A5A-175CF753DBBA}"/>
    <dgm:cxn modelId="{1FF3F00B-9993-43E3-B022-49F783888297}" type="presOf" srcId="{A9F9EEB8-9BAC-4308-AB99-1208955248D7}" destId="{7FDE43EF-3863-4DCE-A874-ABA0ACFEC19B}" srcOrd="0" destOrd="0" presId="urn:microsoft.com/office/officeart/2018/2/layout/IconVerticalSolidList"/>
    <dgm:cxn modelId="{EE02D614-99FE-4A05-BB28-0A25AB5CDC8B}" type="presOf" srcId="{03E67CC2-4F27-4A01-AB33-F40BD454E777}" destId="{F6B1B9AE-310D-4FCB-A24C-615975AC8DA6}" srcOrd="0" destOrd="0" presId="urn:microsoft.com/office/officeart/2018/2/layout/IconVerticalSolidList"/>
    <dgm:cxn modelId="{95F15916-C281-4D0A-BA95-A655AAF3932F}" srcId="{A9F9EEB8-9BAC-4308-AB99-1208955248D7}" destId="{8E08B5E5-62D5-4C9B-9B30-7BB7328621F8}" srcOrd="2" destOrd="0" parTransId="{F7751749-9EB7-449D-8BFB-C178F493B502}" sibTransId="{144E6045-2913-4DAE-94BA-9C81A968F458}"/>
    <dgm:cxn modelId="{2CAE8C66-1CB1-4B59-8745-503FB855717E}" srcId="{A9F9EEB8-9BAC-4308-AB99-1208955248D7}" destId="{E40403D2-83EA-4D0E-A934-916E9CF73132}" srcOrd="1" destOrd="0" parTransId="{D775E4FF-F04E-41A8-9151-A9C276B16AB5}" sibTransId="{E24A711E-099C-4E57-BDDC-E2A6F88AE2B6}"/>
    <dgm:cxn modelId="{45858D6F-E721-4D4B-945B-5B83C9EE4FC3}" type="presOf" srcId="{8E08B5E5-62D5-4C9B-9B30-7BB7328621F8}" destId="{3571A6D8-A28B-4B49-9849-5E8D3FAE6DB7}" srcOrd="0" destOrd="0" presId="urn:microsoft.com/office/officeart/2018/2/layout/IconVerticalSolidList"/>
    <dgm:cxn modelId="{727EC280-F07D-4048-B3B0-FA86E9A1349E}" type="presOf" srcId="{F2F10916-261A-4CBD-BCBD-D715C6FB6C8E}" destId="{7E7D7779-81C2-4920-A146-7753A50004EB}" srcOrd="0" destOrd="0" presId="urn:microsoft.com/office/officeart/2018/2/layout/IconVerticalSolidList"/>
    <dgm:cxn modelId="{5DD8B8B7-CF53-4320-B17A-EEA8E7C00DE8}" srcId="{A9F9EEB8-9BAC-4308-AB99-1208955248D7}" destId="{F2F10916-261A-4CBD-BCBD-D715C6FB6C8E}" srcOrd="0" destOrd="0" parTransId="{6CFA8C1E-B6F5-419E-A637-9C109BB6EDD0}" sibTransId="{7F8C541A-ABAB-437A-ABBF-67D4AB6DE896}"/>
    <dgm:cxn modelId="{C17668EB-340E-40DF-9B7E-B0D282154883}" type="presOf" srcId="{E40403D2-83EA-4D0E-A934-916E9CF73132}" destId="{52D2F3B3-5784-486B-BDB6-824D4F663116}" srcOrd="0" destOrd="0" presId="urn:microsoft.com/office/officeart/2018/2/layout/IconVerticalSolidList"/>
    <dgm:cxn modelId="{C39E2BED-708A-4C78-B2A7-F33A30127787}" type="presParOf" srcId="{7FDE43EF-3863-4DCE-A874-ABA0ACFEC19B}" destId="{89C2E6D3-D7D1-4808-A484-44B57148F601}" srcOrd="0" destOrd="0" presId="urn:microsoft.com/office/officeart/2018/2/layout/IconVerticalSolidList"/>
    <dgm:cxn modelId="{558AFD69-DFDF-41A0-AD72-F2CAB31F3578}" type="presParOf" srcId="{89C2E6D3-D7D1-4808-A484-44B57148F601}" destId="{F2B8C6B8-B881-4D08-BDF0-A3213B04CAE1}" srcOrd="0" destOrd="0" presId="urn:microsoft.com/office/officeart/2018/2/layout/IconVerticalSolidList"/>
    <dgm:cxn modelId="{7634F46D-7640-456D-9684-A72C363352F4}" type="presParOf" srcId="{89C2E6D3-D7D1-4808-A484-44B57148F601}" destId="{20561902-02E8-423E-ABE2-9159C1BA5720}" srcOrd="1" destOrd="0" presId="urn:microsoft.com/office/officeart/2018/2/layout/IconVerticalSolidList"/>
    <dgm:cxn modelId="{570B1309-8E22-4AA2-84E5-A002DEE88BB4}" type="presParOf" srcId="{89C2E6D3-D7D1-4808-A484-44B57148F601}" destId="{EC7B105F-8F4D-406C-A9B0-87BD423143EC}" srcOrd="2" destOrd="0" presId="urn:microsoft.com/office/officeart/2018/2/layout/IconVerticalSolidList"/>
    <dgm:cxn modelId="{FA54EA8C-8ED9-425D-B576-D485150431C4}" type="presParOf" srcId="{89C2E6D3-D7D1-4808-A484-44B57148F601}" destId="{7E7D7779-81C2-4920-A146-7753A50004EB}" srcOrd="3" destOrd="0" presId="urn:microsoft.com/office/officeart/2018/2/layout/IconVerticalSolidList"/>
    <dgm:cxn modelId="{41957599-CAF2-4FE9-BB8D-32153E0B2C38}" type="presParOf" srcId="{7FDE43EF-3863-4DCE-A874-ABA0ACFEC19B}" destId="{9DC9A738-CD01-4893-8521-72AA741103F1}" srcOrd="1" destOrd="0" presId="urn:microsoft.com/office/officeart/2018/2/layout/IconVerticalSolidList"/>
    <dgm:cxn modelId="{EEDB2B6C-F1B6-4D3E-B5E6-9CAD3FDE97A2}" type="presParOf" srcId="{7FDE43EF-3863-4DCE-A874-ABA0ACFEC19B}" destId="{E1055126-8ED0-44AF-8CD6-D1B1990EB783}" srcOrd="2" destOrd="0" presId="urn:microsoft.com/office/officeart/2018/2/layout/IconVerticalSolidList"/>
    <dgm:cxn modelId="{F1AB5C19-5C21-49A0-940D-84690CAB8A95}" type="presParOf" srcId="{E1055126-8ED0-44AF-8CD6-D1B1990EB783}" destId="{FDC9DF2B-43ED-4D12-8E72-CC09D6BCA720}" srcOrd="0" destOrd="0" presId="urn:microsoft.com/office/officeart/2018/2/layout/IconVerticalSolidList"/>
    <dgm:cxn modelId="{4ADBB5BD-FE58-4490-9255-05CDE15A3F48}" type="presParOf" srcId="{E1055126-8ED0-44AF-8CD6-D1B1990EB783}" destId="{3543E77D-5918-4D41-8064-56F559F8D165}" srcOrd="1" destOrd="0" presId="urn:microsoft.com/office/officeart/2018/2/layout/IconVerticalSolidList"/>
    <dgm:cxn modelId="{E1ADB5C9-9671-463C-9317-4D4611B5130D}" type="presParOf" srcId="{E1055126-8ED0-44AF-8CD6-D1B1990EB783}" destId="{04756A9E-E41A-4DA2-A088-1C9047BEC844}" srcOrd="2" destOrd="0" presId="urn:microsoft.com/office/officeart/2018/2/layout/IconVerticalSolidList"/>
    <dgm:cxn modelId="{04E3BE00-50C2-435F-AA3A-85B8E908D9DB}" type="presParOf" srcId="{E1055126-8ED0-44AF-8CD6-D1B1990EB783}" destId="{52D2F3B3-5784-486B-BDB6-824D4F663116}" srcOrd="3" destOrd="0" presId="urn:microsoft.com/office/officeart/2018/2/layout/IconVerticalSolidList"/>
    <dgm:cxn modelId="{9E04AC9A-7BFB-4AB5-88CA-DC4A63B6B5EC}" type="presParOf" srcId="{7FDE43EF-3863-4DCE-A874-ABA0ACFEC19B}" destId="{0772ED46-5A95-4DEE-BB1F-89655C5A5C4C}" srcOrd="3" destOrd="0" presId="urn:microsoft.com/office/officeart/2018/2/layout/IconVerticalSolidList"/>
    <dgm:cxn modelId="{45E15F1D-D589-4F2F-816B-E883C1448827}" type="presParOf" srcId="{7FDE43EF-3863-4DCE-A874-ABA0ACFEC19B}" destId="{19341AFA-76EC-45D9-952E-46427D0ECE6F}" srcOrd="4" destOrd="0" presId="urn:microsoft.com/office/officeart/2018/2/layout/IconVerticalSolidList"/>
    <dgm:cxn modelId="{2394A8D4-5568-457A-9495-4E9912E597CC}" type="presParOf" srcId="{19341AFA-76EC-45D9-952E-46427D0ECE6F}" destId="{2E6D62EE-1EBF-4D88-8134-E6A73C844722}" srcOrd="0" destOrd="0" presId="urn:microsoft.com/office/officeart/2018/2/layout/IconVerticalSolidList"/>
    <dgm:cxn modelId="{0166801C-3EEB-4404-A00C-C0A428E3A7FB}" type="presParOf" srcId="{19341AFA-76EC-45D9-952E-46427D0ECE6F}" destId="{4E248BCB-0E0A-45A8-A07D-F18E45783299}" srcOrd="1" destOrd="0" presId="urn:microsoft.com/office/officeart/2018/2/layout/IconVerticalSolidList"/>
    <dgm:cxn modelId="{E5686F28-A143-4AF7-831D-2C53969EED62}" type="presParOf" srcId="{19341AFA-76EC-45D9-952E-46427D0ECE6F}" destId="{400E9AD6-C62B-4B3E-B140-4C43CE43BC09}" srcOrd="2" destOrd="0" presId="urn:microsoft.com/office/officeart/2018/2/layout/IconVerticalSolidList"/>
    <dgm:cxn modelId="{70BE6C29-086D-4388-8BD6-B8CB32209F19}" type="presParOf" srcId="{19341AFA-76EC-45D9-952E-46427D0ECE6F}" destId="{3571A6D8-A28B-4B49-9849-5E8D3FAE6DB7}" srcOrd="3" destOrd="0" presId="urn:microsoft.com/office/officeart/2018/2/layout/IconVerticalSolidList"/>
    <dgm:cxn modelId="{23FCBFF1-D78B-44B0-87A2-D7F1A4DCC9DF}" type="presParOf" srcId="{7FDE43EF-3863-4DCE-A874-ABA0ACFEC19B}" destId="{BACFEB73-4B4A-470F-BD8C-4F0360FBCB26}" srcOrd="5" destOrd="0" presId="urn:microsoft.com/office/officeart/2018/2/layout/IconVerticalSolidList"/>
    <dgm:cxn modelId="{FAF5BC3A-5628-4377-A635-84D037594492}" type="presParOf" srcId="{7FDE43EF-3863-4DCE-A874-ABA0ACFEC19B}" destId="{BFE4E084-FD95-4846-A6ED-F53A229063D5}" srcOrd="6" destOrd="0" presId="urn:microsoft.com/office/officeart/2018/2/layout/IconVerticalSolidList"/>
    <dgm:cxn modelId="{6387579B-BACC-4B01-AD1F-BA0EA2E1FCA7}" type="presParOf" srcId="{BFE4E084-FD95-4846-A6ED-F53A229063D5}" destId="{FCCD1A2F-74E6-4579-A835-03D7104756CE}" srcOrd="0" destOrd="0" presId="urn:microsoft.com/office/officeart/2018/2/layout/IconVerticalSolidList"/>
    <dgm:cxn modelId="{22888FF7-0D04-4E51-9FC1-52E479A66465}" type="presParOf" srcId="{BFE4E084-FD95-4846-A6ED-F53A229063D5}" destId="{B026DF31-2196-430C-930B-BC077C5565A4}" srcOrd="1" destOrd="0" presId="urn:microsoft.com/office/officeart/2018/2/layout/IconVerticalSolidList"/>
    <dgm:cxn modelId="{36615257-6B27-4270-B3C3-0DA2D033F137}" type="presParOf" srcId="{BFE4E084-FD95-4846-A6ED-F53A229063D5}" destId="{BCA7844A-BA27-4837-B2F2-4ADD46127EB0}" srcOrd="2" destOrd="0" presId="urn:microsoft.com/office/officeart/2018/2/layout/IconVerticalSolidList"/>
    <dgm:cxn modelId="{33340241-3228-4F62-A45E-03763023B3EA}" type="presParOf" srcId="{BFE4E084-FD95-4846-A6ED-F53A229063D5}" destId="{F6B1B9AE-310D-4FCB-A24C-615975AC8D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8C6B8-B881-4D08-BDF0-A3213B04CAE1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61902-02E8-423E-ABE2-9159C1BA572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D7779-81C2-4920-A146-7753A50004EB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Project Description</a:t>
          </a:r>
          <a:endParaRPr lang="en-US" sz="2200" kern="1200"/>
        </a:p>
      </dsp:txBody>
      <dsp:txXfrm>
        <a:off x="1057183" y="1805"/>
        <a:ext cx="9458416" cy="915310"/>
      </dsp:txXfrm>
    </dsp:sp>
    <dsp:sp modelId="{FDC9DF2B-43ED-4D12-8E72-CC09D6BCA720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3E77D-5918-4D41-8064-56F559F8D16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2F3B3-5784-486B-BDB6-824D4F663116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Phase 2 EDA and Pipelines</a:t>
          </a:r>
          <a:endParaRPr lang="en-US" sz="2200" kern="1200"/>
        </a:p>
      </dsp:txBody>
      <dsp:txXfrm>
        <a:off x="1057183" y="1145944"/>
        <a:ext cx="9458416" cy="915310"/>
      </dsp:txXfrm>
    </dsp:sp>
    <dsp:sp modelId="{2E6D62EE-1EBF-4D88-8134-E6A73C844722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48BCB-0E0A-45A8-A07D-F18E4578329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1A6D8-A28B-4B49-9849-5E8D3FAE6DB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Phase 2 Results</a:t>
          </a:r>
          <a:endParaRPr lang="en-US" sz="2200" kern="1200"/>
        </a:p>
      </dsp:txBody>
      <dsp:txXfrm>
        <a:off x="1057183" y="2290082"/>
        <a:ext cx="9458416" cy="915310"/>
      </dsp:txXfrm>
    </dsp:sp>
    <dsp:sp modelId="{FCCD1A2F-74E6-4579-A835-03D7104756C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6DF31-2196-430C-930B-BC077C5565A4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1B9AE-310D-4FCB-A24C-615975AC8DA6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Conclusion and Next Steps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C365-19DF-80FD-41EF-914FA0A6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A7E3-3FA8-41F0-2DBD-E7BCE37C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E126E-8D53-D255-6209-384985CE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9638-36E7-81DF-35B5-E5FF8ED8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AEFF-A628-9C65-0797-14ABBD31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7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A092-68AC-695C-8518-D8DCB486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34F9-11EF-3EF4-B027-034C3F9D9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A1A72-012A-EC46-86E8-69B947DE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D37B-B497-43AE-58D7-5EB54E94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1CD8-929C-92B0-F507-71BDFF69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E992-630D-262B-D803-3BC60D43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EB07D-B44D-B54F-01BB-CB7B1DAA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579F-AA99-A3DB-688B-D4B157AA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3FB4-CE6C-2DD2-C31C-1C3BC376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9AE85-802A-6CA2-1AE7-30EE0657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2235-D6F3-6A6E-7EEF-95A15F54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D7C0-0043-DE6F-A62D-3B1D74DF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D836-7509-B517-E875-079205FBF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BE07A-ED5D-13A0-F846-2CBE0390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B969D-6ABD-E6D8-8B20-D875997E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69591-190D-615C-8208-3F85F1C4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6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4D17-E57F-224A-CFCA-C561B777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649A8-E9BE-3871-B94C-469A3822E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73774-BABF-F26B-3865-6DFC010A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D8D9B-C37E-61FE-08D0-7543155D4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8D17C-EB23-E7D6-96EA-4E7BAC1EB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7AAA3-DFC8-4E16-BECC-10467390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FF242-CCBF-4432-F260-AF6ED687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BAC56-2199-2CD7-E3F6-2374B40A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D857-4AF9-4DB0-578B-112A6B10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96F4C-8DCF-0522-52A7-B2D9E1BA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DEBBA-CCAF-7C76-A43F-2FF73F7F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BD780-905E-4DD0-1334-134B14A9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1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0F142-A248-0A4A-B0DC-5AE1D8F9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ABC22-DB02-CA32-8BC4-507944A6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3AF71-F6BF-6C6A-ABF1-399BF312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6BD8-7109-44D7-BEB9-55D3BB56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2FE66-3FD5-364C-71A0-A4EBCF3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949ED-9D97-8790-22FD-2DA92CE18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DC7BF-A43B-AB29-AF03-39C6DD02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825B1-E205-B401-EDDC-988FCC84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28AC7-9A12-4CC7-67E9-11B47AC0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9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885B-273C-D201-9C71-47171517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766D9-5085-E061-42F6-C1A7C6FED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7C3FB-9A99-1819-6EB2-95A4EC54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E79A7-2D67-9C3F-112C-58C6B0D4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1A256-6BC4-D2A4-04BD-DA415D38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E7776-8BE2-1AE2-7C7D-8BB8A72C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6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FEA0-CBD3-5EF3-0D80-E50E8F6C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31308-E1F4-110B-36DB-9C5FC261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4913E-A7E7-F96D-E163-CAFED0D4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036F2-D90D-E910-A818-994D58C7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7938A-C6BC-4B60-EE52-52F29585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7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3B2B4-D684-0553-92C9-246A97852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17318-5714-8D76-68A9-E1FCA1DE0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207A8-7117-AB15-5A11-6F8F990E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D57B2-B062-EFFC-AFA3-2F0FE209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B6B5A-E4BF-C46B-1446-A9E58426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711ED-607E-EE24-6EE6-82993DB0C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F6B5-A28D-FA2C-5B27-700C0742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6D14-5643-47E1-A1A5-A54930239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3FB6F-84B6-43B8-8057-E050608D5FB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C405-7B22-4443-5953-6F3A6CDFE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27685-B6AC-F71D-0C4E-CEB600502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2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02_58A0297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D6C72C8A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6D21F3-824F-86B4-D5AD-1ADBADC8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1942"/>
            <a:ext cx="9144000" cy="731422"/>
          </a:xfrm>
        </p:spPr>
        <p:txBody>
          <a:bodyPr>
            <a:normAutofit/>
          </a:bodyPr>
          <a:lstStyle/>
          <a:p>
            <a:r>
              <a:rPr lang="en-US" sz="1800" b="1"/>
              <a:t>Group Number: </a:t>
            </a:r>
            <a:r>
              <a:rPr lang="en-US" sz="1800"/>
              <a:t>3 </a:t>
            </a:r>
          </a:p>
          <a:p>
            <a:r>
              <a:rPr lang="en-US" sz="1800" b="1"/>
              <a:t>Team Name: </a:t>
            </a:r>
            <a:r>
              <a:rPr lang="en-US" sz="1800"/>
              <a:t>FP_Group_3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D532D4C-753A-2F31-07D8-6BD56DE2878B}"/>
              </a:ext>
            </a:extLst>
          </p:cNvPr>
          <p:cNvSpPr txBox="1">
            <a:spLocks/>
          </p:cNvSpPr>
          <p:nvPr/>
        </p:nvSpPr>
        <p:spPr>
          <a:xfrm>
            <a:off x="1623607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Alicia Aaholm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4635B7-B3EA-4770-D87D-53C5C01E88E2}"/>
              </a:ext>
            </a:extLst>
          </p:cNvPr>
          <p:cNvSpPr txBox="1">
            <a:spLocks/>
          </p:cNvSpPr>
          <p:nvPr/>
        </p:nvSpPr>
        <p:spPr>
          <a:xfrm>
            <a:off x="4007794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Nicholas Chappell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B11C73-0DD8-8CED-3A73-1D4D0D0C9247}"/>
              </a:ext>
            </a:extLst>
          </p:cNvPr>
          <p:cNvSpPr/>
          <p:nvPr/>
        </p:nvSpPr>
        <p:spPr>
          <a:xfrm>
            <a:off x="0" y="1385695"/>
            <a:ext cx="12192000" cy="1451872"/>
          </a:xfrm>
          <a:prstGeom prst="rect">
            <a:avLst/>
          </a:prstGeom>
          <a:solidFill>
            <a:srgbClr val="20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39A1F03-FEDE-BE8E-6CE7-18BD48851843}"/>
              </a:ext>
            </a:extLst>
          </p:cNvPr>
          <p:cNvSpPr txBox="1">
            <a:spLocks/>
          </p:cNvSpPr>
          <p:nvPr/>
        </p:nvSpPr>
        <p:spPr>
          <a:xfrm>
            <a:off x="6391981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Jaden Costa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3187227-F662-2CA8-CEC9-9C46D95AD458}"/>
              </a:ext>
            </a:extLst>
          </p:cNvPr>
          <p:cNvSpPr txBox="1">
            <a:spLocks/>
          </p:cNvSpPr>
          <p:nvPr/>
        </p:nvSpPr>
        <p:spPr>
          <a:xfrm>
            <a:off x="8776169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Katia Torres Sanchez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42A409-85F4-CF35-0572-09C8A1EB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419" y="4378096"/>
            <a:ext cx="1121724" cy="1121724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C025B2-B038-7CBB-7C9B-4EA23DD1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1419" y="111434"/>
            <a:ext cx="1109886" cy="11098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DAC671-4A3E-1449-C4E8-286C90BE1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1320"/>
            <a:ext cx="9144000" cy="1451872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HCDR Final Project</a:t>
            </a:r>
          </a:p>
        </p:txBody>
      </p:sp>
      <p:pic>
        <p:nvPicPr>
          <p:cNvPr id="10" name="Picture 9" descr="A person standing in front of a brick wall&#10;&#10;AI-generated content may be incorrect.">
            <a:extLst>
              <a:ext uri="{FF2B5EF4-FFF2-40B4-BE49-F238E27FC236}">
                <a16:creationId xmlns:a16="http://schemas.microsoft.com/office/drawing/2014/main" id="{3AB39938-311B-B071-AA88-AED5DB72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81" y="4311783"/>
            <a:ext cx="1190625" cy="1190625"/>
          </a:xfrm>
          <a:prstGeom prst="ellipse">
            <a:avLst/>
          </a:prstGeom>
        </p:spPr>
      </p:pic>
      <p:pic>
        <p:nvPicPr>
          <p:cNvPr id="8" name="Picture 7" descr="A person with blonde hair smiling&#10;&#10;AI-generated content may be incorrect.">
            <a:extLst>
              <a:ext uri="{FF2B5EF4-FFF2-40B4-BE49-F238E27FC236}">
                <a16:creationId xmlns:a16="http://schemas.microsoft.com/office/drawing/2014/main" id="{822B2B2F-0CE7-A40C-CB08-5CDE9C733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05" y="4279135"/>
            <a:ext cx="1190625" cy="1219200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40E60-4CD5-992C-7BE6-382CB007C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69" y="4325039"/>
            <a:ext cx="1209675" cy="12192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2171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D638-3924-672D-AA36-E94063E1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Outline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1C264EE-AC44-5B42-ED23-81FA64275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0880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591349E-E589-4E68-957F-F623E9CDDAF9}"/>
              </a:ext>
            </a:extLst>
          </p:cNvPr>
          <p:cNvSpPr/>
          <p:nvPr/>
        </p:nvSpPr>
        <p:spPr>
          <a:xfrm>
            <a:off x="0" y="1385695"/>
            <a:ext cx="12192000" cy="119255"/>
          </a:xfrm>
          <a:prstGeom prst="rect">
            <a:avLst/>
          </a:prstGeom>
          <a:solidFill>
            <a:srgbClr val="20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67045-CA0E-FFDE-DA18-ABFACD43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06CF1-8A5F-1DDD-C424-708C8CA4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HCDR project model aims to train a model to predict whether a lender would be able to pay off a loan. </a:t>
            </a:r>
          </a:p>
          <a:p>
            <a:r>
              <a:rPr lang="en-US"/>
              <a:t>Allow lending institutions to make smarter business decisions </a:t>
            </a:r>
          </a:p>
          <a:p>
            <a:r>
              <a:rPr lang="en-US"/>
              <a:t>Preventing however many hundreds or thousands of dollars from being lost due to poor investments. </a:t>
            </a:r>
          </a:p>
        </p:txBody>
      </p:sp>
    </p:spTree>
    <p:extLst>
      <p:ext uri="{BB962C8B-B14F-4D97-AF65-F5344CB8AC3E}">
        <p14:creationId xmlns:p14="http://schemas.microsoft.com/office/powerpoint/2010/main" val="352096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87F75-0367-6E88-5E8B-E58A9394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77" y="109376"/>
            <a:ext cx="9392421" cy="1330841"/>
          </a:xfrm>
        </p:spPr>
        <p:txBody>
          <a:bodyPr>
            <a:normAutofit/>
          </a:bodyPr>
          <a:lstStyle/>
          <a:p>
            <a:r>
              <a:rPr lang="en-US" b="1"/>
              <a:t>Phase 2 EDA and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2DA76-0674-6DD8-7D43-6C72308C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913" y="1895396"/>
            <a:ext cx="4958966" cy="46311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/>
              <a:t>Phase 2 introduced the datasets from Kaggle into our test notebook, and initialized </a:t>
            </a:r>
            <a:r>
              <a:rPr lang="en-US" sz="2400" err="1"/>
              <a:t>Github</a:t>
            </a:r>
            <a:r>
              <a:rPr lang="en-US" sz="2400"/>
              <a:t> repo for teammates to collaborate</a:t>
            </a:r>
          </a:p>
          <a:p>
            <a:r>
              <a:rPr lang="en-US" sz="2400"/>
              <a:t>Missing values (see visual) accounted for in pipelines</a:t>
            </a:r>
          </a:p>
          <a:p>
            <a:r>
              <a:rPr lang="en-US" sz="2400"/>
              <a:t>Created pipelines using Logistic Regression, Random Forest, </a:t>
            </a:r>
            <a:r>
              <a:rPr lang="en-US" sz="2400" err="1"/>
              <a:t>XGBoost</a:t>
            </a:r>
            <a:r>
              <a:rPr lang="en-US" sz="2400"/>
              <a:t>, </a:t>
            </a:r>
            <a:r>
              <a:rPr lang="en-US" sz="2400" err="1"/>
              <a:t>LightGBM</a:t>
            </a:r>
            <a:r>
              <a:rPr lang="en-US" sz="2400"/>
              <a:t>, and </a:t>
            </a:r>
            <a:r>
              <a:rPr lang="en-US" sz="2400" err="1"/>
              <a:t>CatBoost</a:t>
            </a:r>
            <a:endParaRPr lang="en-US" sz="2400"/>
          </a:p>
          <a:p>
            <a:endParaRPr lang="en-US" sz="2000"/>
          </a:p>
        </p:txBody>
      </p:sp>
      <p:pic>
        <p:nvPicPr>
          <p:cNvPr id="4" name="Picture 3" descr="A blue and white striped pattern&#10;&#10;AI-generated content may be incorrect.">
            <a:extLst>
              <a:ext uri="{FF2B5EF4-FFF2-40B4-BE49-F238E27FC236}">
                <a16:creationId xmlns:a16="http://schemas.microsoft.com/office/drawing/2014/main" id="{CF148C0B-A0D7-ADB7-376A-B5344BA92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16" y="1858401"/>
            <a:ext cx="5427352" cy="4347367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913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F488-A33A-25FB-9611-12AEA286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361D-B43C-8F7A-2967-AFBEF8AB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40" y="10"/>
            <a:ext cx="10515600" cy="1325563"/>
          </a:xfrm>
        </p:spPr>
        <p:txBody>
          <a:bodyPr/>
          <a:lstStyle/>
          <a:p>
            <a:r>
              <a:rPr lang="en-US" b="1"/>
              <a:t>Phase 2 Key Steps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373CC-481D-4515-5599-CF311649F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42" y="1448475"/>
            <a:ext cx="5143116" cy="493630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ea typeface="+mn-lt"/>
                <a:cs typeface="+mn-lt"/>
              </a:rPr>
              <a:t>Loaded all Home Credit datasets and set up a shared GitHub workflow.</a:t>
            </a:r>
            <a:endParaRPr lang="en-US" i="1"/>
          </a:p>
          <a:p>
            <a:r>
              <a:rPr lang="en-US">
                <a:ea typeface="+mn-lt"/>
                <a:cs typeface="+mn-lt"/>
              </a:rPr>
              <a:t>Completed EDA on key tables; identified heavy missingness in property features and weak individual correlations with TARGET.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Found occupation and demographic trends (e.g., laborers highest default counts; age shows slight predictive value).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Built initial preprocessing + modeling pipelines (Logistic Regression, Random Forest,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LightGBM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CatBoost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Learned that the dataset is noisy, imbalanced, and requires strong feature engineering and aggregation for model performance.</a:t>
            </a:r>
            <a:endParaRPr lang="en-US"/>
          </a:p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AC339F-F78C-F08C-E0B2-08C04A529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666" y="1555016"/>
            <a:ext cx="5877920" cy="442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8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C737-80CA-C41B-6A72-E02A62D6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70" y="3367"/>
            <a:ext cx="10515600" cy="1325563"/>
          </a:xfrm>
        </p:spPr>
        <p:txBody>
          <a:bodyPr/>
          <a:lstStyle/>
          <a:p>
            <a:r>
              <a:rPr lang="en-US" b="1"/>
              <a:t>Model Evaluation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3BCB-3B7E-9279-B11B-23F0EB01D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370" y="1333020"/>
            <a:ext cx="5243174" cy="480545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ea typeface="+mn-lt"/>
                <a:cs typeface="+mn-lt"/>
              </a:rPr>
              <a:t>Compared four baseline models using the validation set.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LightGBM</a:t>
            </a:r>
            <a:r>
              <a:rPr lang="en-US">
                <a:ea typeface="+mn-lt"/>
                <a:cs typeface="+mn-lt"/>
              </a:rPr>
              <a:t> performed best with the highest ROC-AUC (0.747).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All models showed low F1 scores due to dataset imbalance, but </a:t>
            </a:r>
            <a:r>
              <a:rPr lang="en-US" err="1">
                <a:ea typeface="+mn-lt"/>
                <a:cs typeface="+mn-lt"/>
              </a:rPr>
              <a:t>LightGBM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achieved the best recall.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Results indicate that gradient-boosting models handle the feature complexity better than linear or tree-based baselines.</a:t>
            </a:r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2F0E48F-1F64-36A2-48F4-C4B89216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702" y="1971473"/>
            <a:ext cx="6066615" cy="353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3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6674-2233-28FA-7866-B0C83A39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8C7EA-DF28-4D34-442D-B90B0B13C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plan on conducting more feature engineering and hyperparameter tuning over the next 2 weeks and decide on adding additional features/methods.</a:t>
            </a:r>
          </a:p>
          <a:p>
            <a:r>
              <a:rPr lang="en-US"/>
              <a:t>Kernel crashes on some workstations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Larger emphasis on memory utilization</a:t>
            </a:r>
          </a:p>
          <a:p>
            <a:r>
              <a:rPr lang="en-US"/>
              <a:t>Status update for these improvements in Phase 3</a:t>
            </a:r>
          </a:p>
        </p:txBody>
      </p:sp>
    </p:spTree>
    <p:extLst>
      <p:ext uri="{BB962C8B-B14F-4D97-AF65-F5344CB8AC3E}">
        <p14:creationId xmlns:p14="http://schemas.microsoft.com/office/powerpoint/2010/main" val="36033772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HCDR Final Project</vt:lpstr>
      <vt:lpstr>Outline</vt:lpstr>
      <vt:lpstr>Project Description</vt:lpstr>
      <vt:lpstr>Phase 2 EDA and Pipelines</vt:lpstr>
      <vt:lpstr>Phase 2 Key Steps &amp; Results</vt:lpstr>
      <vt:lpstr>Model Evaluation Results</vt:lpstr>
      <vt:lpstr>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 Sanchez, Katia</dc:creator>
  <cp:lastModifiedBy>Costa, Jaden P</cp:lastModifiedBy>
  <cp:revision>2</cp:revision>
  <dcterms:created xsi:type="dcterms:W3CDTF">2025-11-18T20:17:02Z</dcterms:created>
  <dcterms:modified xsi:type="dcterms:W3CDTF">2025-11-19T03:38:50Z</dcterms:modified>
</cp:coreProperties>
</file>